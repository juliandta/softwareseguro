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3" d="100"/>
          <a:sy n="143" d="100"/>
        </p:scale>
        <p:origin x="68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50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El objetivo: que un login en RefugioHuellas autentique automáticamente en ProyectoWeb y viceversa, usando Keycloak como proveedor de identidad centralizado.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SSO = un solo login para todas las apps. Keycloak es el proveedor de identidad. Las apps delegan la autenticación a Keycloak, que mantiene la sesión centralizada.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servicios en total. Keycloak es el hub central. Las flechas punteadas indican el flujo OIDC. PostgreSQL solo lo usa NestJS; RefugioHuellas usa Supabase.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solo comando levanta todo. Keycloak 26.2 importa el realm-export.json automáticamente. Se puede acceder al admin en localhost:8080/admin con admin/admin.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realm define todo: clientes, roles, usuarios. Al compartir realm, una sesión iniciada en cualquier cliente es visible desde los otros. Eso es lo que hace posible el SSO.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5 es la magia del SSO: check-sso detecta la cookie de sesión de Keycloak sin que el usuario haga nada. El iframe oculto carga silent-check-sso.html y Keycloak responde con el token.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checkLoginIframe:false fue el fix clave para el error 403 que aparecía al cargar las apps. El iframe deprecado de Keycloak no es compatible con las políticas SameSite modernas de los browsers.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modos conviven en el mismo ASP.NET: el MVC con cookies (para las vistas Razor) y el API con JwtBearer (para la SPA React). El fix de SignInManager fue necesario porque AddIdentityCore no lo registra.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NestJS no comparte ningún secreto con Keycloak. La clave pública RS256 está disponible públicamente en el endpoint JWKS. El SSL condicional solucionó el error de conexión a PostgreSQL en Docker local.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todos los archivos que se tocaron. En total: docker-compose, realm-export, 5 archivos en frontends, 4 en backends.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SSO está completamente funcional en local. Para producción se actualizan las redirect_uri en el realm-export.json con las URLs reales.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4B"/>
        </a:solidFill>
        <a:effectLst/>
      </p:bgPr>
    </p:bg>
    <p:spTree>
      <p:nvGrpSpPr>
        <p:cNvPr id="1" name=""/>
        <p:cNvGrpSpPr/>
        <p:nvPr/>
      </p:nvGrpSpPr>
      <p:grpSpPr>
        <a:xfrm>
          <a:off x="0" y="0"/>
          <a:ext cx="0" cy="0"/>
          <a:chOff x="0" y="0"/>
          <a:chExt cx="0" cy="0"/>
        </a:xfrm>
      </p:grpSpPr>
      <p:sp>
        <p:nvSpPr>
          <p:cNvPr id="2" name="Shape 0"/>
          <p:cNvSpPr/>
          <p:nvPr/>
        </p:nvSpPr>
        <p:spPr>
          <a:xfrm>
            <a:off x="-1097280" y="-1097280"/>
            <a:ext cx="4572000" cy="4572000"/>
          </a:xfrm>
          <a:prstGeom prst="ellipse">
            <a:avLst/>
          </a:prstGeom>
          <a:solidFill>
            <a:srgbClr val="0891B2">
              <a:alpha val="18000"/>
            </a:srgbClr>
          </a:solidFill>
          <a:ln w="12700">
            <a:solidFill>
              <a:srgbClr val="0891B2">
                <a:alpha val="18000"/>
              </a:srgbClr>
            </a:solidFill>
            <a:prstDash val="solid"/>
          </a:ln>
        </p:spPr>
        <p:txBody>
          <a:bodyPr/>
          <a:lstStyle/>
          <a:p>
            <a:endParaRPr lang="en-US"/>
          </a:p>
        </p:txBody>
      </p:sp>
      <p:sp>
        <p:nvSpPr>
          <p:cNvPr id="3" name="Shape 1"/>
          <p:cNvSpPr/>
          <p:nvPr/>
        </p:nvSpPr>
        <p:spPr>
          <a:xfrm>
            <a:off x="6583680" y="2743200"/>
            <a:ext cx="4572000" cy="4572000"/>
          </a:xfrm>
          <a:prstGeom prst="ellipse">
            <a:avLst/>
          </a:prstGeom>
          <a:solidFill>
            <a:srgbClr val="0E7490">
              <a:alpha val="14000"/>
            </a:srgbClr>
          </a:solidFill>
          <a:ln w="12700">
            <a:solidFill>
              <a:srgbClr val="0E7490">
                <a:alpha val="14000"/>
              </a:srgbClr>
            </a:solidFill>
            <a:prstDash val="solid"/>
          </a:ln>
        </p:spPr>
        <p:txBody>
          <a:bodyPr/>
          <a:lstStyle/>
          <a:p>
            <a:endParaRPr lang="en-US"/>
          </a:p>
        </p:txBody>
      </p:sp>
      <p:sp>
        <p:nvSpPr>
          <p:cNvPr id="4" name="Shape 2"/>
          <p:cNvSpPr/>
          <p:nvPr/>
        </p:nvSpPr>
        <p:spPr>
          <a:xfrm>
            <a:off x="3886200" y="502920"/>
            <a:ext cx="1371600" cy="1371600"/>
          </a:xfrm>
          <a:prstGeom prst="roundRect">
            <a:avLst>
              <a:gd name="adj" fmla="val 20000"/>
            </a:avLst>
          </a:prstGeom>
          <a:solidFill>
            <a:srgbClr val="0891B2"/>
          </a:solidFill>
          <a:ln/>
        </p:spPr>
        <p:txBody>
          <a:bodyPr/>
          <a:lstStyle/>
          <a:p>
            <a:endParaRPr lang="en-US"/>
          </a:p>
        </p:txBody>
      </p:sp>
      <p:sp>
        <p:nvSpPr>
          <p:cNvPr id="5" name="Text 3"/>
          <p:cNvSpPr/>
          <p:nvPr/>
        </p:nvSpPr>
        <p:spPr>
          <a:xfrm>
            <a:off x="3886200" y="548640"/>
            <a:ext cx="1371600" cy="1280160"/>
          </a:xfrm>
          <a:prstGeom prst="rect">
            <a:avLst/>
          </a:prstGeom>
          <a:noFill/>
          <a:ln/>
        </p:spPr>
        <p:txBody>
          <a:bodyPr wrap="square" lIns="0" tIns="0" rIns="0" bIns="0" rtlCol="0" anchor="ctr"/>
          <a:lstStyle/>
          <a:p>
            <a:pPr marL="0" indent="0" algn="ctr">
              <a:buNone/>
            </a:pPr>
            <a:r>
              <a:rPr lang="en-US" sz="2600" b="1" dirty="0">
                <a:solidFill>
                  <a:srgbClr val="FFFFFF"/>
                </a:solidFill>
              </a:rPr>
              <a:t>SSO</a:t>
            </a:r>
            <a:endParaRPr lang="en-US" sz="2600" dirty="0"/>
          </a:p>
        </p:txBody>
      </p:sp>
      <p:sp>
        <p:nvSpPr>
          <p:cNvPr id="6" name="Text 4"/>
          <p:cNvSpPr/>
          <p:nvPr/>
        </p:nvSpPr>
        <p:spPr>
          <a:xfrm>
            <a:off x="457200" y="2148840"/>
            <a:ext cx="8229600" cy="777240"/>
          </a:xfrm>
          <a:prstGeom prst="rect">
            <a:avLst/>
          </a:prstGeom>
          <a:noFill/>
          <a:ln/>
        </p:spPr>
        <p:txBody>
          <a:bodyPr wrap="square" lIns="0" tIns="0" rIns="0" bIns="0" rtlCol="0" anchor="ctr"/>
          <a:lstStyle/>
          <a:p>
            <a:pPr marL="0" indent="0" algn="ctr">
              <a:buNone/>
            </a:pPr>
            <a:r>
              <a:rPr lang="en-US" sz="4600" b="1" dirty="0">
                <a:solidFill>
                  <a:srgbClr val="FFFFFF"/>
                </a:solidFill>
              </a:rPr>
              <a:t>Single Sign-On</a:t>
            </a:r>
            <a:endParaRPr lang="en-US" sz="4600" dirty="0"/>
          </a:p>
        </p:txBody>
      </p:sp>
      <p:sp>
        <p:nvSpPr>
          <p:cNvPr id="7" name="Text 5"/>
          <p:cNvSpPr/>
          <p:nvPr/>
        </p:nvSpPr>
        <p:spPr>
          <a:xfrm>
            <a:off x="457200" y="2834640"/>
            <a:ext cx="8229600" cy="685800"/>
          </a:xfrm>
          <a:prstGeom prst="rect">
            <a:avLst/>
          </a:prstGeom>
          <a:noFill/>
          <a:ln/>
        </p:spPr>
        <p:txBody>
          <a:bodyPr wrap="square" lIns="0" tIns="0" rIns="0" bIns="0" rtlCol="0" anchor="ctr"/>
          <a:lstStyle/>
          <a:p>
            <a:pPr marL="0" indent="0" algn="ctr">
              <a:buNone/>
            </a:pPr>
            <a:r>
              <a:rPr lang="en-US" sz="3600" dirty="0">
                <a:solidFill>
                  <a:srgbClr val="BAE6FD"/>
                </a:solidFill>
              </a:rPr>
              <a:t>con Keycloak</a:t>
            </a:r>
            <a:endParaRPr lang="en-US" sz="3600" dirty="0"/>
          </a:p>
        </p:txBody>
      </p:sp>
      <p:sp>
        <p:nvSpPr>
          <p:cNvPr id="8" name="Shape 6"/>
          <p:cNvSpPr/>
          <p:nvPr/>
        </p:nvSpPr>
        <p:spPr>
          <a:xfrm>
            <a:off x="3200400" y="3639312"/>
            <a:ext cx="2743200" cy="36576"/>
          </a:xfrm>
          <a:prstGeom prst="rect">
            <a:avLst/>
          </a:prstGeom>
          <a:solidFill>
            <a:srgbClr val="0891B2"/>
          </a:solidFill>
          <a:ln/>
        </p:spPr>
        <p:txBody>
          <a:bodyPr/>
          <a:lstStyle/>
          <a:p>
            <a:endParaRPr lang="en-US"/>
          </a:p>
        </p:txBody>
      </p:sp>
      <p:sp>
        <p:nvSpPr>
          <p:cNvPr id="9" name="Text 7"/>
          <p:cNvSpPr/>
          <p:nvPr/>
        </p:nvSpPr>
        <p:spPr>
          <a:xfrm>
            <a:off x="457200" y="3767328"/>
            <a:ext cx="8229600" cy="347472"/>
          </a:xfrm>
          <a:prstGeom prst="rect">
            <a:avLst/>
          </a:prstGeom>
          <a:noFill/>
          <a:ln/>
        </p:spPr>
        <p:txBody>
          <a:bodyPr wrap="square" lIns="0" tIns="0" rIns="0" bIns="0" rtlCol="0" anchor="ctr"/>
          <a:lstStyle/>
          <a:p>
            <a:pPr marL="0" indent="0" algn="ctr">
              <a:buNone/>
            </a:pPr>
            <a:r>
              <a:rPr lang="en-US" sz="1400" dirty="0">
                <a:solidFill>
                  <a:srgbClr val="BAE6FD"/>
                </a:solidFill>
              </a:rPr>
              <a:t>RefugioHuellas  ·  ProyectoWeb</a:t>
            </a:r>
            <a:endParaRPr lang="en-US" sz="1400" dirty="0"/>
          </a:p>
        </p:txBody>
      </p:sp>
      <p:sp>
        <p:nvSpPr>
          <p:cNvPr id="10" name="Text 8"/>
          <p:cNvSpPr/>
          <p:nvPr/>
        </p:nvSpPr>
        <p:spPr>
          <a:xfrm>
            <a:off x="457200" y="4681728"/>
            <a:ext cx="8229600" cy="292608"/>
          </a:xfrm>
          <a:prstGeom prst="rect">
            <a:avLst/>
          </a:prstGeom>
          <a:noFill/>
          <a:ln/>
        </p:spPr>
        <p:txBody>
          <a:bodyPr wrap="square" lIns="0" tIns="0" rIns="0" bIns="0" rtlCol="0" anchor="ctr"/>
          <a:lstStyle/>
          <a:p>
            <a:pPr marL="0" indent="0" algn="ctr">
              <a:buNone/>
            </a:pPr>
            <a:r>
              <a:rPr lang="en-US" sz="1100" dirty="0">
                <a:solidFill>
                  <a:srgbClr val="94A3B8"/>
                </a:solidFill>
              </a:rPr>
              <a:t>Software Seguro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¿Qué es Single Sign-On?</a:t>
            </a:r>
            <a:endParaRPr lang="en-US" sz="2800" dirty="0"/>
          </a:p>
        </p:txBody>
      </p:sp>
      <p:sp>
        <p:nvSpPr>
          <p:cNvPr id="4" name="Shape 2"/>
          <p:cNvSpPr/>
          <p:nvPr/>
        </p:nvSpPr>
        <p:spPr>
          <a:xfrm>
            <a:off x="274320" y="1170432"/>
            <a:ext cx="3703320" cy="3520440"/>
          </a:xfrm>
          <a:prstGeom prst="roundRect">
            <a:avLst>
              <a:gd name="adj" fmla="val 3117"/>
            </a:avLst>
          </a:prstGeom>
          <a:solidFill>
            <a:srgbClr val="FEF2F2"/>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457200" y="1298448"/>
            <a:ext cx="3337560" cy="384048"/>
          </a:xfrm>
          <a:prstGeom prst="rect">
            <a:avLst/>
          </a:prstGeom>
          <a:noFill/>
          <a:ln/>
        </p:spPr>
        <p:txBody>
          <a:bodyPr wrap="square" lIns="0" tIns="0" rIns="0" bIns="0" rtlCol="0" anchor="ctr"/>
          <a:lstStyle/>
          <a:p>
            <a:pPr marL="0" indent="0">
              <a:buNone/>
            </a:pPr>
            <a:r>
              <a:rPr lang="en-US" sz="1600" b="1" dirty="0">
                <a:solidFill>
                  <a:srgbClr val="DC2626"/>
                </a:solidFill>
              </a:rPr>
              <a:t>Sin SSO</a:t>
            </a:r>
            <a:endParaRPr lang="en-US" sz="1600" dirty="0"/>
          </a:p>
        </p:txBody>
      </p:sp>
      <p:sp>
        <p:nvSpPr>
          <p:cNvPr id="6" name="Text 4"/>
          <p:cNvSpPr/>
          <p:nvPr/>
        </p:nvSpPr>
        <p:spPr>
          <a:xfrm>
            <a:off x="457200" y="1737360"/>
            <a:ext cx="3337560" cy="2606040"/>
          </a:xfrm>
          <a:prstGeom prst="rect">
            <a:avLst/>
          </a:prstGeom>
          <a:noFill/>
          <a:ln/>
        </p:spPr>
        <p:txBody>
          <a:bodyPr wrap="square" rtlCol="0" anchor="ctr"/>
          <a:lstStyle/>
          <a:p>
            <a:pPr marL="342900" indent="-342900">
              <a:buSzPct val="100000"/>
              <a:buChar char="•"/>
            </a:pPr>
            <a:r>
              <a:rPr lang="en-US" sz="1300" dirty="0">
                <a:solidFill>
                  <a:srgbClr val="1E293B"/>
                </a:solidFill>
              </a:rPr>
              <a:t>Cada app tiene su propio login</a:t>
            </a:r>
            <a:endParaRPr lang="en-US" sz="1300" dirty="0"/>
          </a:p>
          <a:p>
            <a:pPr marL="342900" indent="-342900">
              <a:buSzPct val="100000"/>
              <a:buChar char="•"/>
            </a:pPr>
            <a:r>
              <a:rPr lang="en-US" sz="1300" dirty="0">
                <a:solidFill>
                  <a:srgbClr val="1E293B"/>
                </a:solidFill>
              </a:rPr>
              <a:t>El usuario debe autenticarse en cada aplicación por separado</a:t>
            </a:r>
            <a:endParaRPr lang="en-US" sz="1300" dirty="0"/>
          </a:p>
          <a:p>
            <a:pPr marL="342900" indent="-342900">
              <a:buSzPct val="100000"/>
              <a:buChar char="•"/>
            </a:pPr>
            <a:r>
              <a:rPr lang="en-US" sz="1300" dirty="0">
                <a:solidFill>
                  <a:srgbClr val="1E293B"/>
                </a:solidFill>
              </a:rPr>
              <a:t>Múltiples sesiones independientes</a:t>
            </a:r>
            <a:endParaRPr lang="en-US" sz="1300" dirty="0"/>
          </a:p>
          <a:p>
            <a:pPr marL="342900" indent="-342900">
              <a:buSzPct val="100000"/>
              <a:buChar char="•"/>
            </a:pPr>
            <a:r>
              <a:rPr lang="en-US" sz="1300" dirty="0">
                <a:solidFill>
                  <a:srgbClr val="1E293B"/>
                </a:solidFill>
              </a:rPr>
              <a:t>Mayor superficie de ataque: más puntos de autenticación</a:t>
            </a:r>
            <a:endParaRPr lang="en-US" sz="1300" dirty="0"/>
          </a:p>
        </p:txBody>
      </p:sp>
      <p:sp>
        <p:nvSpPr>
          <p:cNvPr id="7" name="Shape 5"/>
          <p:cNvSpPr/>
          <p:nvPr/>
        </p:nvSpPr>
        <p:spPr>
          <a:xfrm>
            <a:off x="5120640" y="1170432"/>
            <a:ext cx="3749040" cy="3520440"/>
          </a:xfrm>
          <a:prstGeom prst="roundRect">
            <a:avLst>
              <a:gd name="adj" fmla="val 3117"/>
            </a:avLst>
          </a:prstGeom>
          <a:solidFill>
            <a:srgbClr val="F0FDF4"/>
          </a:solidFill>
          <a:ln/>
          <a:effectLst>
            <a:outerShdw blurRad="101600" dist="25400" dir="2700000" algn="bl" rotWithShape="0">
              <a:srgbClr val="1E293B">
                <a:alpha val="10000"/>
              </a:srgbClr>
            </a:outerShdw>
          </a:effectLst>
        </p:spPr>
        <p:txBody>
          <a:bodyPr/>
          <a:lstStyle/>
          <a:p>
            <a:endParaRPr lang="en-US"/>
          </a:p>
        </p:txBody>
      </p:sp>
      <p:sp>
        <p:nvSpPr>
          <p:cNvPr id="8" name="Text 6"/>
          <p:cNvSpPr/>
          <p:nvPr/>
        </p:nvSpPr>
        <p:spPr>
          <a:xfrm>
            <a:off x="5285232" y="1298448"/>
            <a:ext cx="3401568" cy="384048"/>
          </a:xfrm>
          <a:prstGeom prst="rect">
            <a:avLst/>
          </a:prstGeom>
          <a:noFill/>
          <a:ln/>
        </p:spPr>
        <p:txBody>
          <a:bodyPr wrap="square" lIns="0" tIns="0" rIns="0" bIns="0" rtlCol="0" anchor="ctr"/>
          <a:lstStyle/>
          <a:p>
            <a:pPr marL="0" indent="0">
              <a:buNone/>
            </a:pPr>
            <a:r>
              <a:rPr lang="en-US" sz="1600" b="1" dirty="0">
                <a:solidFill>
                  <a:srgbClr val="16A34A"/>
                </a:solidFill>
              </a:rPr>
              <a:t>Con SSO (Keycloak)</a:t>
            </a:r>
            <a:endParaRPr lang="en-US" sz="1600" dirty="0"/>
          </a:p>
        </p:txBody>
      </p:sp>
      <p:sp>
        <p:nvSpPr>
          <p:cNvPr id="9" name="Text 7"/>
          <p:cNvSpPr/>
          <p:nvPr/>
        </p:nvSpPr>
        <p:spPr>
          <a:xfrm>
            <a:off x="5285232" y="1737360"/>
            <a:ext cx="3401568" cy="2606040"/>
          </a:xfrm>
          <a:prstGeom prst="rect">
            <a:avLst/>
          </a:prstGeom>
          <a:noFill/>
          <a:ln/>
        </p:spPr>
        <p:txBody>
          <a:bodyPr wrap="square" rtlCol="0" anchor="ctr"/>
          <a:lstStyle/>
          <a:p>
            <a:pPr marL="342900" indent="-342900">
              <a:buSzPct val="100000"/>
              <a:buChar char="•"/>
            </a:pPr>
            <a:r>
              <a:rPr lang="en-US" sz="1300" dirty="0">
                <a:solidFill>
                  <a:srgbClr val="1E293B"/>
                </a:solidFill>
              </a:rPr>
              <a:t>Login único centralizado en Keycloak</a:t>
            </a:r>
            <a:endParaRPr lang="en-US" sz="1300" dirty="0"/>
          </a:p>
          <a:p>
            <a:pPr marL="342900" indent="-342900">
              <a:buSzPct val="100000"/>
              <a:buChar char="•"/>
            </a:pPr>
            <a:r>
              <a:rPr lang="en-US" sz="1300" dirty="0">
                <a:solidFill>
                  <a:srgbClr val="1E293B"/>
                </a:solidFill>
              </a:rPr>
              <a:t>Todas las apps reconocen la sesión automáticamente (check-sso)</a:t>
            </a:r>
            <a:endParaRPr lang="en-US" sz="1300" dirty="0"/>
          </a:p>
          <a:p>
            <a:pPr marL="342900" indent="-342900">
              <a:buSzPct val="100000"/>
              <a:buChar char="•"/>
            </a:pPr>
            <a:r>
              <a:rPr lang="en-US" sz="1300" dirty="0">
                <a:solidFill>
                  <a:srgbClr val="1E293B"/>
                </a:solidFill>
              </a:rPr>
              <a:t>Un solo proveedor de identidad</a:t>
            </a:r>
            <a:endParaRPr lang="en-US" sz="1300" dirty="0"/>
          </a:p>
          <a:p>
            <a:pPr marL="342900" indent="-342900">
              <a:buSzPct val="100000"/>
              <a:buChar char="•"/>
            </a:pPr>
            <a:r>
              <a:rPr lang="en-US" sz="1300" dirty="0">
                <a:solidFill>
                  <a:srgbClr val="1E293B"/>
                </a:solidFill>
              </a:rPr>
              <a:t>Protocolo estándar: OpenID Connect + OAuth 2.0 + PKCE</a:t>
            </a:r>
            <a:endParaRPr lang="en-US" sz="1300" dirty="0"/>
          </a:p>
        </p:txBody>
      </p:sp>
      <p:sp>
        <p:nvSpPr>
          <p:cNvPr id="10" name="Shape 8"/>
          <p:cNvSpPr/>
          <p:nvPr/>
        </p:nvSpPr>
        <p:spPr>
          <a:xfrm>
            <a:off x="4183380" y="2487168"/>
            <a:ext cx="777240" cy="777240"/>
          </a:xfrm>
          <a:prstGeom prst="ellipse">
            <a:avLst/>
          </a:prstGeom>
          <a:solidFill>
            <a:srgbClr val="1B2B4B"/>
          </a:solidFill>
          <a:ln/>
        </p:spPr>
        <p:txBody>
          <a:bodyPr/>
          <a:lstStyle/>
          <a:p>
            <a:endParaRPr lang="en-US"/>
          </a:p>
        </p:txBody>
      </p:sp>
      <p:sp>
        <p:nvSpPr>
          <p:cNvPr id="11" name="Text 9"/>
          <p:cNvSpPr/>
          <p:nvPr/>
        </p:nvSpPr>
        <p:spPr>
          <a:xfrm>
            <a:off x="4183380" y="2487168"/>
            <a:ext cx="777240" cy="777240"/>
          </a:xfrm>
          <a:prstGeom prst="rect">
            <a:avLst/>
          </a:prstGeom>
          <a:noFill/>
          <a:ln/>
        </p:spPr>
        <p:txBody>
          <a:bodyPr wrap="square" lIns="0" tIns="0" rIns="0" bIns="0" rtlCol="0" anchor="ctr"/>
          <a:lstStyle/>
          <a:p>
            <a:pPr marL="0" indent="0" algn="ctr">
              <a:buNone/>
            </a:pPr>
            <a:r>
              <a:rPr lang="en-US" sz="1300" b="1" dirty="0">
                <a:solidFill>
                  <a:srgbClr val="FFFFFF"/>
                </a:solidFill>
              </a:rPr>
              <a:t>VS</a:t>
            </a:r>
            <a:endParaRPr lang="en-US" sz="1300" dirty="0"/>
          </a:p>
        </p:txBody>
      </p:sp>
      <p:sp>
        <p:nvSpPr>
          <p:cNvPr id="12" name="Shape 10"/>
          <p:cNvSpPr/>
          <p:nvPr/>
        </p:nvSpPr>
        <p:spPr>
          <a:xfrm>
            <a:off x="365760" y="4663440"/>
            <a:ext cx="8412480" cy="347472"/>
          </a:xfrm>
          <a:prstGeom prst="roundRect">
            <a:avLst>
              <a:gd name="adj" fmla="val 21053"/>
            </a:avLst>
          </a:prstGeom>
          <a:solidFill>
            <a:srgbClr val="E0E7FF"/>
          </a:solidFill>
          <a:ln/>
        </p:spPr>
        <p:txBody>
          <a:bodyPr/>
          <a:lstStyle/>
          <a:p>
            <a:endParaRPr lang="en-US"/>
          </a:p>
        </p:txBody>
      </p:sp>
      <p:sp>
        <p:nvSpPr>
          <p:cNvPr id="13" name="Text 11"/>
          <p:cNvSpPr/>
          <p:nvPr/>
        </p:nvSpPr>
        <p:spPr>
          <a:xfrm>
            <a:off x="457200" y="4681728"/>
            <a:ext cx="8229600" cy="310896"/>
          </a:xfrm>
          <a:prstGeom prst="rect">
            <a:avLst/>
          </a:prstGeom>
          <a:noFill/>
          <a:ln/>
        </p:spPr>
        <p:txBody>
          <a:bodyPr wrap="square" lIns="0" tIns="0" rIns="0" bIns="0" rtlCol="0" anchor="ctr"/>
          <a:lstStyle/>
          <a:p>
            <a:pPr marL="0" indent="0" algn="ctr">
              <a:buNone/>
            </a:pPr>
            <a:r>
              <a:rPr lang="en-US" sz="1100" b="1" dirty="0">
                <a:solidFill>
                  <a:srgbClr val="3730A3"/>
                </a:solidFill>
              </a:rPr>
              <a:t>Keycloak implementa el estándar OpenID Connect — el mismo que usan Google, Microsoft y GitHub</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Arquitectura del Sistema</a:t>
            </a:r>
            <a:endParaRPr lang="en-US" sz="2800" dirty="0"/>
          </a:p>
        </p:txBody>
      </p:sp>
      <p:sp>
        <p:nvSpPr>
          <p:cNvPr id="4" name="Shape 2"/>
          <p:cNvSpPr/>
          <p:nvPr/>
        </p:nvSpPr>
        <p:spPr>
          <a:xfrm>
            <a:off x="2926080" y="1156062"/>
            <a:ext cx="3291840" cy="1234440"/>
          </a:xfrm>
          <a:prstGeom prst="roundRect">
            <a:avLst>
              <a:gd name="adj" fmla="val 8889"/>
            </a:avLst>
          </a:prstGeom>
          <a:solidFill>
            <a:srgbClr val="EDE9FE"/>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2926080" y="1234440"/>
            <a:ext cx="3291840" cy="365760"/>
          </a:xfrm>
          <a:prstGeom prst="rect">
            <a:avLst/>
          </a:prstGeom>
          <a:noFill/>
          <a:ln/>
        </p:spPr>
        <p:txBody>
          <a:bodyPr wrap="square" lIns="0" tIns="0" rIns="0" bIns="0" rtlCol="0" anchor="ctr"/>
          <a:lstStyle/>
          <a:p>
            <a:pPr marL="0" indent="0" algn="ctr">
              <a:buNone/>
            </a:pPr>
            <a:r>
              <a:rPr lang="en-US" sz="1400" b="1" dirty="0">
                <a:solidFill>
                  <a:srgbClr val="6D28D9"/>
                </a:solidFill>
              </a:rPr>
              <a:t>KEYCLOAK</a:t>
            </a:r>
            <a:endParaRPr lang="en-US" sz="1400" dirty="0"/>
          </a:p>
        </p:txBody>
      </p:sp>
      <p:sp>
        <p:nvSpPr>
          <p:cNvPr id="6" name="Text 4"/>
          <p:cNvSpPr/>
          <p:nvPr/>
        </p:nvSpPr>
        <p:spPr>
          <a:xfrm>
            <a:off x="2926080" y="1591056"/>
            <a:ext cx="3291840" cy="685800"/>
          </a:xfrm>
          <a:prstGeom prst="rect">
            <a:avLst/>
          </a:prstGeom>
          <a:noFill/>
          <a:ln/>
        </p:spPr>
        <p:txBody>
          <a:bodyPr wrap="square" lIns="0" tIns="0" rIns="0" bIns="0" rtlCol="0" anchor="ctr"/>
          <a:lstStyle/>
          <a:p>
            <a:pPr marL="0" indent="0" algn="ctr">
              <a:buNone/>
            </a:pPr>
            <a:r>
              <a:rPr lang="en-US" sz="950" dirty="0">
                <a:solidFill>
                  <a:srgbClr val="4C1D95"/>
                </a:solidFill>
              </a:rPr>
              <a:t>localhost:8080 (Docker)</a:t>
            </a:r>
            <a:endParaRPr lang="en-US" sz="950" dirty="0"/>
          </a:p>
          <a:p>
            <a:pPr marL="0" indent="0" algn="ctr">
              <a:buNone/>
            </a:pPr>
            <a:r>
              <a:rPr lang="en-US" sz="950" dirty="0">
                <a:solidFill>
                  <a:srgbClr val="4C1D95"/>
                </a:solidFill>
              </a:rPr>
              <a:t>Realm: proyecto-dss</a:t>
            </a:r>
            <a:endParaRPr lang="en-US" sz="950" dirty="0"/>
          </a:p>
          <a:p>
            <a:pPr marL="0" indent="0" algn="ctr">
              <a:buNone/>
            </a:pPr>
            <a:r>
              <a:rPr lang="en-US" sz="950" dirty="0">
                <a:solidFill>
                  <a:srgbClr val="4C1D95"/>
                </a:solidFill>
              </a:rPr>
              <a:t>3 clientes OIDC</a:t>
            </a:r>
            <a:endParaRPr lang="en-US" sz="950" dirty="0"/>
          </a:p>
        </p:txBody>
      </p:sp>
      <p:sp>
        <p:nvSpPr>
          <p:cNvPr id="7" name="Shape 5"/>
          <p:cNvSpPr/>
          <p:nvPr/>
        </p:nvSpPr>
        <p:spPr>
          <a:xfrm>
            <a:off x="6583680" y="1143000"/>
            <a:ext cx="2240280" cy="1005840"/>
          </a:xfrm>
          <a:prstGeom prst="roundRect">
            <a:avLst>
              <a:gd name="adj" fmla="val 9091"/>
            </a:avLst>
          </a:prstGeom>
          <a:solidFill>
            <a:srgbClr val="F0FDF4"/>
          </a:solidFill>
          <a:ln/>
          <a:effectLst>
            <a:outerShdw blurRad="101600" dist="25400" dir="2700000" algn="bl" rotWithShape="0">
              <a:srgbClr val="1E293B">
                <a:alpha val="10000"/>
              </a:srgbClr>
            </a:outerShdw>
          </a:effectLst>
        </p:spPr>
        <p:txBody>
          <a:bodyPr/>
          <a:lstStyle/>
          <a:p>
            <a:endParaRPr lang="en-US"/>
          </a:p>
        </p:txBody>
      </p:sp>
      <p:sp>
        <p:nvSpPr>
          <p:cNvPr id="8" name="Text 6"/>
          <p:cNvSpPr/>
          <p:nvPr/>
        </p:nvSpPr>
        <p:spPr>
          <a:xfrm>
            <a:off x="6583680" y="1216152"/>
            <a:ext cx="2240280" cy="320040"/>
          </a:xfrm>
          <a:prstGeom prst="rect">
            <a:avLst/>
          </a:prstGeom>
          <a:noFill/>
          <a:ln/>
        </p:spPr>
        <p:txBody>
          <a:bodyPr wrap="square" lIns="0" tIns="0" rIns="0" bIns="0" rtlCol="0" anchor="ctr"/>
          <a:lstStyle/>
          <a:p>
            <a:pPr marL="0" indent="0" algn="ctr">
              <a:buNone/>
            </a:pPr>
            <a:r>
              <a:rPr lang="en-US" sz="1200" b="1" dirty="0">
                <a:solidFill>
                  <a:srgbClr val="16A34A"/>
                </a:solidFill>
              </a:rPr>
              <a:t>PostgreSQL</a:t>
            </a:r>
            <a:endParaRPr lang="en-US" sz="1200" dirty="0"/>
          </a:p>
        </p:txBody>
      </p:sp>
      <p:sp>
        <p:nvSpPr>
          <p:cNvPr id="9" name="Text 7"/>
          <p:cNvSpPr/>
          <p:nvPr/>
        </p:nvSpPr>
        <p:spPr>
          <a:xfrm>
            <a:off x="6583680" y="1517904"/>
            <a:ext cx="2240280" cy="512064"/>
          </a:xfrm>
          <a:prstGeom prst="rect">
            <a:avLst/>
          </a:prstGeom>
          <a:noFill/>
          <a:ln/>
        </p:spPr>
        <p:txBody>
          <a:bodyPr wrap="square" lIns="0" tIns="0" rIns="0" bIns="0" rtlCol="0" anchor="ctr"/>
          <a:lstStyle/>
          <a:p>
            <a:pPr marL="0" indent="0" algn="ctr">
              <a:buNone/>
            </a:pPr>
            <a:r>
              <a:rPr lang="en-US" sz="900" dirty="0">
                <a:solidFill>
                  <a:srgbClr val="475569"/>
                </a:solidFill>
              </a:rPr>
              <a:t>localhost:5432 (Docker)</a:t>
            </a:r>
            <a:endParaRPr lang="en-US" sz="900" dirty="0"/>
          </a:p>
          <a:p>
            <a:pPr marL="0" indent="0" algn="ctr">
              <a:buNone/>
            </a:pPr>
            <a:r>
              <a:rPr lang="en-US" sz="900" dirty="0">
                <a:solidFill>
                  <a:srgbClr val="475569"/>
                </a:solidFill>
              </a:rPr>
              <a:t>DB: veci_herramientas</a:t>
            </a:r>
            <a:endParaRPr lang="en-US" sz="900" dirty="0"/>
          </a:p>
        </p:txBody>
      </p:sp>
      <p:sp>
        <p:nvSpPr>
          <p:cNvPr id="10" name="Shape 8"/>
          <p:cNvSpPr/>
          <p:nvPr/>
        </p:nvSpPr>
        <p:spPr>
          <a:xfrm flipH="1">
            <a:off x="2227217" y="2377440"/>
            <a:ext cx="1430383" cy="457200"/>
          </a:xfrm>
          <a:prstGeom prst="line">
            <a:avLst/>
          </a:prstGeom>
          <a:noFill/>
          <a:ln w="19050">
            <a:solidFill>
              <a:srgbClr val="6D28D9"/>
            </a:solidFill>
            <a:prstDash val="sysDash"/>
          </a:ln>
        </p:spPr>
        <p:txBody>
          <a:bodyPr/>
          <a:lstStyle/>
          <a:p>
            <a:endParaRPr lang="en-US"/>
          </a:p>
        </p:txBody>
      </p:sp>
      <p:sp>
        <p:nvSpPr>
          <p:cNvPr id="11" name="Shape 9"/>
          <p:cNvSpPr/>
          <p:nvPr/>
        </p:nvSpPr>
        <p:spPr>
          <a:xfrm>
            <a:off x="5394960" y="2377440"/>
            <a:ext cx="1645920" cy="548640"/>
          </a:xfrm>
          <a:prstGeom prst="line">
            <a:avLst/>
          </a:prstGeom>
          <a:noFill/>
          <a:ln w="19050">
            <a:solidFill>
              <a:srgbClr val="6D28D9"/>
            </a:solidFill>
            <a:prstDash val="sysDash"/>
          </a:ln>
        </p:spPr>
        <p:txBody>
          <a:bodyPr/>
          <a:lstStyle/>
          <a:p>
            <a:endParaRPr lang="en-US"/>
          </a:p>
        </p:txBody>
      </p:sp>
      <p:sp>
        <p:nvSpPr>
          <p:cNvPr id="12" name="Shape 10"/>
          <p:cNvSpPr/>
          <p:nvPr/>
        </p:nvSpPr>
        <p:spPr>
          <a:xfrm>
            <a:off x="228600" y="2834640"/>
            <a:ext cx="4114800" cy="1828800"/>
          </a:xfrm>
          <a:prstGeom prst="roundRect">
            <a:avLst>
              <a:gd name="adj" fmla="val 6000"/>
            </a:avLst>
          </a:prstGeom>
          <a:solidFill>
            <a:srgbClr val="FFF7ED"/>
          </a:solidFill>
          <a:ln/>
          <a:effectLst>
            <a:outerShdw blurRad="101600" dist="25400" dir="2700000" algn="bl" rotWithShape="0">
              <a:srgbClr val="1E293B">
                <a:alpha val="10000"/>
              </a:srgbClr>
            </a:outerShdw>
          </a:effectLst>
        </p:spPr>
        <p:txBody>
          <a:bodyPr/>
          <a:lstStyle/>
          <a:p>
            <a:endParaRPr lang="en-US"/>
          </a:p>
        </p:txBody>
      </p:sp>
      <p:sp>
        <p:nvSpPr>
          <p:cNvPr id="13" name="Text 11"/>
          <p:cNvSpPr/>
          <p:nvPr/>
        </p:nvSpPr>
        <p:spPr>
          <a:xfrm>
            <a:off x="384048" y="2898648"/>
            <a:ext cx="3785616" cy="310896"/>
          </a:xfrm>
          <a:prstGeom prst="rect">
            <a:avLst/>
          </a:prstGeom>
          <a:noFill/>
          <a:ln/>
        </p:spPr>
        <p:txBody>
          <a:bodyPr wrap="square" lIns="0" tIns="0" rIns="0" bIns="0" rtlCol="0" anchor="ctr"/>
          <a:lstStyle/>
          <a:p>
            <a:pPr marL="0" indent="0">
              <a:buNone/>
            </a:pPr>
            <a:r>
              <a:rPr lang="en-US" sz="1300" b="1" dirty="0">
                <a:solidFill>
                  <a:srgbClr val="D97706"/>
                </a:solidFill>
              </a:rPr>
              <a:t>RefugioHuellas</a:t>
            </a:r>
            <a:endParaRPr lang="en-US" sz="1300" dirty="0"/>
          </a:p>
        </p:txBody>
      </p:sp>
      <p:sp>
        <p:nvSpPr>
          <p:cNvPr id="14" name="Shape 12"/>
          <p:cNvSpPr/>
          <p:nvPr/>
        </p:nvSpPr>
        <p:spPr>
          <a:xfrm>
            <a:off x="347472" y="3236976"/>
            <a:ext cx="1234440" cy="1325880"/>
          </a:xfrm>
          <a:prstGeom prst="roundRect">
            <a:avLst>
              <a:gd name="adj" fmla="val 5926"/>
            </a:avLst>
          </a:prstGeom>
          <a:solidFill>
            <a:srgbClr val="FEF3C7"/>
          </a:solidFill>
          <a:ln/>
        </p:spPr>
        <p:txBody>
          <a:bodyPr/>
          <a:lstStyle/>
          <a:p>
            <a:endParaRPr lang="en-US"/>
          </a:p>
        </p:txBody>
      </p:sp>
      <p:sp>
        <p:nvSpPr>
          <p:cNvPr id="15" name="Text 13"/>
          <p:cNvSpPr/>
          <p:nvPr/>
        </p:nvSpPr>
        <p:spPr>
          <a:xfrm>
            <a:off x="384048" y="3282696"/>
            <a:ext cx="1161288" cy="310896"/>
          </a:xfrm>
          <a:prstGeom prst="rect">
            <a:avLst/>
          </a:prstGeom>
          <a:noFill/>
          <a:ln/>
        </p:spPr>
        <p:txBody>
          <a:bodyPr wrap="square" lIns="0" tIns="0" rIns="0" bIns="0" rtlCol="0" anchor="ctr"/>
          <a:lstStyle/>
          <a:p>
            <a:pPr marL="0" indent="0" algn="ctr">
              <a:buNone/>
            </a:pPr>
            <a:r>
              <a:rPr lang="en-US" sz="900" b="1" dirty="0">
                <a:solidFill>
                  <a:srgbClr val="1E293B"/>
                </a:solidFill>
              </a:rPr>
              <a:t>ASP.NET MVC</a:t>
            </a:r>
            <a:endParaRPr lang="en-US" sz="900" dirty="0"/>
          </a:p>
        </p:txBody>
      </p:sp>
      <p:sp>
        <p:nvSpPr>
          <p:cNvPr id="16" name="Text 14"/>
          <p:cNvSpPr/>
          <p:nvPr/>
        </p:nvSpPr>
        <p:spPr>
          <a:xfrm>
            <a:off x="384048" y="3593592"/>
            <a:ext cx="1161288" cy="877824"/>
          </a:xfrm>
          <a:prstGeom prst="rect">
            <a:avLst/>
          </a:prstGeom>
          <a:noFill/>
          <a:ln/>
        </p:spPr>
        <p:txBody>
          <a:bodyPr wrap="square" lIns="0" tIns="0" rIns="0" bIns="0" rtlCol="0" anchor="ctr"/>
          <a:lstStyle/>
          <a:p>
            <a:pPr marL="0" indent="0" algn="ctr">
              <a:buNone/>
            </a:pPr>
            <a:r>
              <a:rPr lang="en-US" sz="850" dirty="0">
                <a:solidFill>
                  <a:srgbClr val="475569"/>
                </a:solidFill>
              </a:rPr>
              <a:t>:5114</a:t>
            </a:r>
            <a:endParaRPr lang="en-US" sz="850" dirty="0"/>
          </a:p>
          <a:p>
            <a:pPr marL="0" indent="0" algn="ctr">
              <a:buNone/>
            </a:pPr>
            <a:r>
              <a:rPr lang="en-US" sz="850" dirty="0">
                <a:solidFill>
                  <a:srgbClr val="475569"/>
                </a:solidFill>
              </a:rPr>
              <a:t>OIDC Cookie</a:t>
            </a:r>
            <a:endParaRPr lang="en-US" sz="850" dirty="0"/>
          </a:p>
        </p:txBody>
      </p:sp>
      <p:sp>
        <p:nvSpPr>
          <p:cNvPr id="17" name="Shape 15"/>
          <p:cNvSpPr/>
          <p:nvPr/>
        </p:nvSpPr>
        <p:spPr>
          <a:xfrm>
            <a:off x="1673352" y="3236976"/>
            <a:ext cx="1234440" cy="1325880"/>
          </a:xfrm>
          <a:prstGeom prst="roundRect">
            <a:avLst>
              <a:gd name="adj" fmla="val 5926"/>
            </a:avLst>
          </a:prstGeom>
          <a:solidFill>
            <a:srgbClr val="FEF9C3"/>
          </a:solidFill>
          <a:ln/>
        </p:spPr>
        <p:txBody>
          <a:bodyPr/>
          <a:lstStyle/>
          <a:p>
            <a:endParaRPr lang="en-US"/>
          </a:p>
        </p:txBody>
      </p:sp>
      <p:sp>
        <p:nvSpPr>
          <p:cNvPr id="18" name="Text 16"/>
          <p:cNvSpPr/>
          <p:nvPr/>
        </p:nvSpPr>
        <p:spPr>
          <a:xfrm>
            <a:off x="1709928" y="3282696"/>
            <a:ext cx="1161288" cy="310896"/>
          </a:xfrm>
          <a:prstGeom prst="rect">
            <a:avLst/>
          </a:prstGeom>
          <a:noFill/>
          <a:ln/>
        </p:spPr>
        <p:txBody>
          <a:bodyPr wrap="square" lIns="0" tIns="0" rIns="0" bIns="0" rtlCol="0" anchor="ctr"/>
          <a:lstStyle/>
          <a:p>
            <a:pPr marL="0" indent="0" algn="ctr">
              <a:buNone/>
            </a:pPr>
            <a:r>
              <a:rPr lang="en-US" sz="900" b="1" dirty="0">
                <a:solidFill>
                  <a:srgbClr val="1E293B"/>
                </a:solidFill>
              </a:rPr>
              <a:t>React SPA</a:t>
            </a:r>
            <a:endParaRPr lang="en-US" sz="900" dirty="0"/>
          </a:p>
        </p:txBody>
      </p:sp>
      <p:sp>
        <p:nvSpPr>
          <p:cNvPr id="19" name="Text 17"/>
          <p:cNvSpPr/>
          <p:nvPr/>
        </p:nvSpPr>
        <p:spPr>
          <a:xfrm>
            <a:off x="1709928" y="3593592"/>
            <a:ext cx="1161288" cy="877824"/>
          </a:xfrm>
          <a:prstGeom prst="rect">
            <a:avLst/>
          </a:prstGeom>
          <a:noFill/>
          <a:ln/>
        </p:spPr>
        <p:txBody>
          <a:bodyPr wrap="square" lIns="0" tIns="0" rIns="0" bIns="0" rtlCol="0" anchor="ctr"/>
          <a:lstStyle/>
          <a:p>
            <a:pPr marL="0" indent="0" algn="ctr">
              <a:buNone/>
            </a:pPr>
            <a:r>
              <a:rPr lang="en-US" sz="850" dirty="0">
                <a:solidFill>
                  <a:srgbClr val="475569"/>
                </a:solidFill>
              </a:rPr>
              <a:t>:5175/app/</a:t>
            </a:r>
            <a:endParaRPr lang="en-US" sz="850" dirty="0"/>
          </a:p>
          <a:p>
            <a:pPr marL="0" indent="0" algn="ctr">
              <a:buNone/>
            </a:pPr>
            <a:r>
              <a:rPr lang="en-US" sz="850" dirty="0">
                <a:solidFill>
                  <a:srgbClr val="475569"/>
                </a:solidFill>
              </a:rPr>
              <a:t>keycloak-js</a:t>
            </a:r>
            <a:endParaRPr lang="en-US" sz="850" dirty="0"/>
          </a:p>
        </p:txBody>
      </p:sp>
      <p:sp>
        <p:nvSpPr>
          <p:cNvPr id="20" name="Shape 18"/>
          <p:cNvSpPr/>
          <p:nvPr/>
        </p:nvSpPr>
        <p:spPr>
          <a:xfrm>
            <a:off x="2999232" y="3236976"/>
            <a:ext cx="1234440" cy="1325880"/>
          </a:xfrm>
          <a:prstGeom prst="roundRect">
            <a:avLst>
              <a:gd name="adj" fmla="val 5926"/>
            </a:avLst>
          </a:prstGeom>
          <a:solidFill>
            <a:srgbClr val="FEF3C7"/>
          </a:solidFill>
          <a:ln/>
        </p:spPr>
        <p:txBody>
          <a:bodyPr/>
          <a:lstStyle/>
          <a:p>
            <a:endParaRPr lang="en-US"/>
          </a:p>
        </p:txBody>
      </p:sp>
      <p:sp>
        <p:nvSpPr>
          <p:cNvPr id="21" name="Text 19"/>
          <p:cNvSpPr/>
          <p:nvPr/>
        </p:nvSpPr>
        <p:spPr>
          <a:xfrm>
            <a:off x="3035808" y="3282696"/>
            <a:ext cx="1161288" cy="310896"/>
          </a:xfrm>
          <a:prstGeom prst="rect">
            <a:avLst/>
          </a:prstGeom>
          <a:noFill/>
          <a:ln/>
        </p:spPr>
        <p:txBody>
          <a:bodyPr wrap="square" lIns="0" tIns="0" rIns="0" bIns="0" rtlCol="0" anchor="ctr"/>
          <a:lstStyle/>
          <a:p>
            <a:pPr marL="0" indent="0" algn="ctr">
              <a:buNone/>
            </a:pPr>
            <a:r>
              <a:rPr lang="en-US" sz="900" b="1" dirty="0">
                <a:solidFill>
                  <a:srgbClr val="1E293B"/>
                </a:solidFill>
              </a:rPr>
              <a:t>ASP.NET API</a:t>
            </a:r>
            <a:endParaRPr lang="en-US" sz="900" dirty="0"/>
          </a:p>
        </p:txBody>
      </p:sp>
      <p:sp>
        <p:nvSpPr>
          <p:cNvPr id="22" name="Text 20"/>
          <p:cNvSpPr/>
          <p:nvPr/>
        </p:nvSpPr>
        <p:spPr>
          <a:xfrm>
            <a:off x="3035808" y="3593592"/>
            <a:ext cx="1161288" cy="877824"/>
          </a:xfrm>
          <a:prstGeom prst="rect">
            <a:avLst/>
          </a:prstGeom>
          <a:noFill/>
          <a:ln/>
        </p:spPr>
        <p:txBody>
          <a:bodyPr wrap="square" lIns="0" tIns="0" rIns="0" bIns="0" rtlCol="0" anchor="ctr"/>
          <a:lstStyle/>
          <a:p>
            <a:pPr marL="0" indent="0" algn="ctr">
              <a:buNone/>
            </a:pPr>
            <a:r>
              <a:rPr lang="en-US" sz="850" dirty="0">
                <a:solidFill>
                  <a:srgbClr val="475569"/>
                </a:solidFill>
              </a:rPr>
              <a:t>:5114/api</a:t>
            </a:r>
            <a:endParaRPr lang="en-US" sz="850" dirty="0"/>
          </a:p>
          <a:p>
            <a:pPr marL="0" indent="0" algn="ctr">
              <a:buNone/>
            </a:pPr>
            <a:r>
              <a:rPr lang="en-US" sz="850" dirty="0">
                <a:solidFill>
                  <a:srgbClr val="475569"/>
                </a:solidFill>
              </a:rPr>
              <a:t>JwtBearer</a:t>
            </a:r>
            <a:endParaRPr lang="en-US" sz="850" dirty="0"/>
          </a:p>
        </p:txBody>
      </p:sp>
      <p:sp>
        <p:nvSpPr>
          <p:cNvPr id="23" name="Shape 21"/>
          <p:cNvSpPr/>
          <p:nvPr/>
        </p:nvSpPr>
        <p:spPr>
          <a:xfrm>
            <a:off x="4800600" y="2834640"/>
            <a:ext cx="4114800" cy="1828800"/>
          </a:xfrm>
          <a:prstGeom prst="roundRect">
            <a:avLst>
              <a:gd name="adj" fmla="val 6000"/>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24" name="Text 22"/>
          <p:cNvSpPr/>
          <p:nvPr/>
        </p:nvSpPr>
        <p:spPr>
          <a:xfrm>
            <a:off x="4956048" y="2898648"/>
            <a:ext cx="3785616" cy="310896"/>
          </a:xfrm>
          <a:prstGeom prst="rect">
            <a:avLst/>
          </a:prstGeom>
          <a:noFill/>
          <a:ln/>
        </p:spPr>
        <p:txBody>
          <a:bodyPr wrap="square" lIns="0" tIns="0" rIns="0" bIns="0" rtlCol="0" anchor="ctr"/>
          <a:lstStyle/>
          <a:p>
            <a:pPr marL="0" indent="0">
              <a:buNone/>
            </a:pPr>
            <a:r>
              <a:rPr lang="en-US" sz="1300" b="1" dirty="0">
                <a:solidFill>
                  <a:srgbClr val="0891B2"/>
                </a:solidFill>
              </a:rPr>
              <a:t>ProyectoWeb</a:t>
            </a:r>
            <a:endParaRPr lang="en-US" sz="1300" dirty="0"/>
          </a:p>
        </p:txBody>
      </p:sp>
      <p:sp>
        <p:nvSpPr>
          <p:cNvPr id="25" name="Shape 23"/>
          <p:cNvSpPr/>
          <p:nvPr/>
        </p:nvSpPr>
        <p:spPr>
          <a:xfrm>
            <a:off x="4919472" y="3236976"/>
            <a:ext cx="1234440" cy="1325880"/>
          </a:xfrm>
          <a:prstGeom prst="roundRect">
            <a:avLst>
              <a:gd name="adj" fmla="val 5926"/>
            </a:avLst>
          </a:prstGeom>
          <a:solidFill>
            <a:srgbClr val="DBEAFE"/>
          </a:solidFill>
          <a:ln/>
        </p:spPr>
        <p:txBody>
          <a:bodyPr/>
          <a:lstStyle/>
          <a:p>
            <a:endParaRPr lang="en-US"/>
          </a:p>
        </p:txBody>
      </p:sp>
      <p:sp>
        <p:nvSpPr>
          <p:cNvPr id="26" name="Text 24"/>
          <p:cNvSpPr/>
          <p:nvPr/>
        </p:nvSpPr>
        <p:spPr>
          <a:xfrm>
            <a:off x="4956048" y="3282696"/>
            <a:ext cx="1161288" cy="310896"/>
          </a:xfrm>
          <a:prstGeom prst="rect">
            <a:avLst/>
          </a:prstGeom>
          <a:noFill/>
          <a:ln/>
        </p:spPr>
        <p:txBody>
          <a:bodyPr wrap="square" lIns="0" tIns="0" rIns="0" bIns="0" rtlCol="0" anchor="ctr"/>
          <a:lstStyle/>
          <a:p>
            <a:pPr marL="0" indent="0" algn="ctr">
              <a:buNone/>
            </a:pPr>
            <a:r>
              <a:rPr lang="en-US" sz="900" b="1" dirty="0">
                <a:solidFill>
                  <a:srgbClr val="1E293B"/>
                </a:solidFill>
              </a:rPr>
              <a:t>NestJS API</a:t>
            </a:r>
            <a:endParaRPr lang="en-US" sz="900" dirty="0"/>
          </a:p>
        </p:txBody>
      </p:sp>
      <p:sp>
        <p:nvSpPr>
          <p:cNvPr id="27" name="Text 25"/>
          <p:cNvSpPr/>
          <p:nvPr/>
        </p:nvSpPr>
        <p:spPr>
          <a:xfrm>
            <a:off x="4956048" y="3593592"/>
            <a:ext cx="1161288" cy="877824"/>
          </a:xfrm>
          <a:prstGeom prst="rect">
            <a:avLst/>
          </a:prstGeom>
          <a:noFill/>
          <a:ln/>
        </p:spPr>
        <p:txBody>
          <a:bodyPr wrap="square" lIns="0" tIns="0" rIns="0" bIns="0" rtlCol="0" anchor="ctr"/>
          <a:lstStyle/>
          <a:p>
            <a:pPr marL="0" indent="0" algn="ctr">
              <a:buNone/>
            </a:pPr>
            <a:r>
              <a:rPr lang="en-US" sz="850" dirty="0">
                <a:solidFill>
                  <a:srgbClr val="475569"/>
                </a:solidFill>
              </a:rPr>
              <a:t>:3000</a:t>
            </a:r>
            <a:endParaRPr lang="en-US" sz="850" dirty="0"/>
          </a:p>
          <a:p>
            <a:pPr marL="0" indent="0" algn="ctr">
              <a:buNone/>
            </a:pPr>
            <a:r>
              <a:rPr lang="en-US" sz="850" dirty="0">
                <a:solidFill>
                  <a:srgbClr val="475569"/>
                </a:solidFill>
              </a:rPr>
              <a:t>JWKS RS256</a:t>
            </a:r>
            <a:endParaRPr lang="en-US" sz="850" dirty="0"/>
          </a:p>
        </p:txBody>
      </p:sp>
      <p:sp>
        <p:nvSpPr>
          <p:cNvPr id="28" name="Shape 26"/>
          <p:cNvSpPr/>
          <p:nvPr/>
        </p:nvSpPr>
        <p:spPr>
          <a:xfrm>
            <a:off x="6245352" y="3236976"/>
            <a:ext cx="1234440" cy="1325880"/>
          </a:xfrm>
          <a:prstGeom prst="roundRect">
            <a:avLst>
              <a:gd name="adj" fmla="val 5926"/>
            </a:avLst>
          </a:prstGeom>
          <a:solidFill>
            <a:srgbClr val="E0F2FE"/>
          </a:solidFill>
          <a:ln/>
        </p:spPr>
        <p:txBody>
          <a:bodyPr/>
          <a:lstStyle/>
          <a:p>
            <a:endParaRPr lang="en-US"/>
          </a:p>
        </p:txBody>
      </p:sp>
      <p:sp>
        <p:nvSpPr>
          <p:cNvPr id="29" name="Text 27"/>
          <p:cNvSpPr/>
          <p:nvPr/>
        </p:nvSpPr>
        <p:spPr>
          <a:xfrm>
            <a:off x="6281928" y="3282696"/>
            <a:ext cx="1161288" cy="310896"/>
          </a:xfrm>
          <a:prstGeom prst="rect">
            <a:avLst/>
          </a:prstGeom>
          <a:noFill/>
          <a:ln/>
        </p:spPr>
        <p:txBody>
          <a:bodyPr wrap="square" lIns="0" tIns="0" rIns="0" bIns="0" rtlCol="0" anchor="ctr"/>
          <a:lstStyle/>
          <a:p>
            <a:pPr marL="0" indent="0" algn="ctr">
              <a:buNone/>
            </a:pPr>
            <a:r>
              <a:rPr lang="en-US" sz="900" b="1" dirty="0">
                <a:solidFill>
                  <a:srgbClr val="1E293B"/>
                </a:solidFill>
              </a:rPr>
              <a:t>Vue App</a:t>
            </a:r>
            <a:endParaRPr lang="en-US" sz="900" dirty="0"/>
          </a:p>
        </p:txBody>
      </p:sp>
      <p:sp>
        <p:nvSpPr>
          <p:cNvPr id="30" name="Text 28"/>
          <p:cNvSpPr/>
          <p:nvPr/>
        </p:nvSpPr>
        <p:spPr>
          <a:xfrm>
            <a:off x="6281928" y="3593592"/>
            <a:ext cx="1161288" cy="877824"/>
          </a:xfrm>
          <a:prstGeom prst="rect">
            <a:avLst/>
          </a:prstGeom>
          <a:noFill/>
          <a:ln/>
        </p:spPr>
        <p:txBody>
          <a:bodyPr wrap="square" lIns="0" tIns="0" rIns="0" bIns="0" rtlCol="0" anchor="ctr"/>
          <a:lstStyle/>
          <a:p>
            <a:pPr marL="0" indent="0" algn="ctr">
              <a:buNone/>
            </a:pPr>
            <a:r>
              <a:rPr lang="en-US" sz="850" dirty="0">
                <a:solidFill>
                  <a:srgbClr val="475569"/>
                </a:solidFill>
              </a:rPr>
              <a:t>:5173</a:t>
            </a:r>
            <a:endParaRPr lang="en-US" sz="850" dirty="0"/>
          </a:p>
          <a:p>
            <a:pPr marL="0" indent="0" algn="ctr">
              <a:buNone/>
            </a:pPr>
            <a:r>
              <a:rPr lang="en-US" sz="850" dirty="0">
                <a:solidFill>
                  <a:srgbClr val="475569"/>
                </a:solidFill>
              </a:rPr>
              <a:t>keycloak-js</a:t>
            </a:r>
            <a:endParaRPr lang="en-US" sz="850" dirty="0"/>
          </a:p>
        </p:txBody>
      </p:sp>
      <p:sp>
        <p:nvSpPr>
          <p:cNvPr id="31" name="Shape 29"/>
          <p:cNvSpPr/>
          <p:nvPr/>
        </p:nvSpPr>
        <p:spPr>
          <a:xfrm>
            <a:off x="7571232" y="3236976"/>
            <a:ext cx="1234440" cy="1325880"/>
          </a:xfrm>
          <a:prstGeom prst="roundRect">
            <a:avLst>
              <a:gd name="adj" fmla="val 5926"/>
            </a:avLst>
          </a:prstGeom>
          <a:solidFill>
            <a:srgbClr val="DBEAFE"/>
          </a:solidFill>
          <a:ln/>
        </p:spPr>
        <p:txBody>
          <a:bodyPr/>
          <a:lstStyle/>
          <a:p>
            <a:endParaRPr lang="en-US"/>
          </a:p>
        </p:txBody>
      </p:sp>
      <p:sp>
        <p:nvSpPr>
          <p:cNvPr id="32" name="Text 30"/>
          <p:cNvSpPr/>
          <p:nvPr/>
        </p:nvSpPr>
        <p:spPr>
          <a:xfrm>
            <a:off x="7607808" y="3282696"/>
            <a:ext cx="1161288" cy="310896"/>
          </a:xfrm>
          <a:prstGeom prst="rect">
            <a:avLst/>
          </a:prstGeom>
          <a:noFill/>
          <a:ln/>
        </p:spPr>
        <p:txBody>
          <a:bodyPr wrap="square" lIns="0" tIns="0" rIns="0" bIns="0" rtlCol="0" anchor="ctr"/>
          <a:lstStyle/>
          <a:p>
            <a:pPr marL="0" indent="0" algn="ctr">
              <a:buNone/>
            </a:pPr>
            <a:r>
              <a:rPr lang="en-US" sz="900" b="1" dirty="0">
                <a:solidFill>
                  <a:srgbClr val="1E293B"/>
                </a:solidFill>
              </a:rPr>
              <a:t>React App</a:t>
            </a:r>
            <a:endParaRPr lang="en-US" sz="900" dirty="0"/>
          </a:p>
        </p:txBody>
      </p:sp>
      <p:sp>
        <p:nvSpPr>
          <p:cNvPr id="33" name="Text 31"/>
          <p:cNvSpPr/>
          <p:nvPr/>
        </p:nvSpPr>
        <p:spPr>
          <a:xfrm>
            <a:off x="7607808" y="3593592"/>
            <a:ext cx="1161288" cy="877824"/>
          </a:xfrm>
          <a:prstGeom prst="rect">
            <a:avLst/>
          </a:prstGeom>
          <a:noFill/>
          <a:ln/>
        </p:spPr>
        <p:txBody>
          <a:bodyPr wrap="square" lIns="0" tIns="0" rIns="0" bIns="0" rtlCol="0" anchor="ctr"/>
          <a:lstStyle/>
          <a:p>
            <a:pPr marL="0" indent="0" algn="ctr">
              <a:buNone/>
            </a:pPr>
            <a:r>
              <a:rPr lang="en-US" sz="850" dirty="0">
                <a:solidFill>
                  <a:srgbClr val="475569"/>
                </a:solidFill>
              </a:rPr>
              <a:t>:5174</a:t>
            </a:r>
            <a:endParaRPr lang="en-US" sz="850" dirty="0"/>
          </a:p>
          <a:p>
            <a:pPr marL="0" indent="0" algn="ctr">
              <a:buNone/>
            </a:pPr>
            <a:r>
              <a:rPr lang="en-US" sz="850" dirty="0">
                <a:solidFill>
                  <a:srgbClr val="475569"/>
                </a:solidFill>
              </a:rPr>
              <a:t>keycloak-js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600" b="1" dirty="0">
                <a:solidFill>
                  <a:srgbClr val="FFFFFF"/>
                </a:solidFill>
              </a:rPr>
              <a:t>Infraestructura: Docker Compose</a:t>
            </a:r>
            <a:endParaRPr lang="en-US" sz="2600" dirty="0"/>
          </a:p>
        </p:txBody>
      </p:sp>
      <p:sp>
        <p:nvSpPr>
          <p:cNvPr id="4" name="Shape 2"/>
          <p:cNvSpPr/>
          <p:nvPr/>
        </p:nvSpPr>
        <p:spPr>
          <a:xfrm>
            <a:off x="274320" y="1115568"/>
            <a:ext cx="4160520" cy="3657600"/>
          </a:xfrm>
          <a:prstGeom prst="roundRect">
            <a:avLst>
              <a:gd name="adj" fmla="val 3000"/>
            </a:avLst>
          </a:prstGeom>
          <a:solidFill>
            <a:srgbClr val="EDE9FE"/>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457200" y="1234440"/>
            <a:ext cx="3794760" cy="384048"/>
          </a:xfrm>
          <a:prstGeom prst="rect">
            <a:avLst/>
          </a:prstGeom>
          <a:noFill/>
          <a:ln/>
        </p:spPr>
        <p:txBody>
          <a:bodyPr wrap="square" lIns="0" tIns="0" rIns="0" bIns="0" rtlCol="0" anchor="ctr"/>
          <a:lstStyle/>
          <a:p>
            <a:pPr marL="0" indent="0">
              <a:buNone/>
            </a:pPr>
            <a:r>
              <a:rPr lang="en-US" sz="1400" b="1" dirty="0">
                <a:solidFill>
                  <a:srgbClr val="6D28D9"/>
                </a:solidFill>
              </a:rPr>
              <a:t>KEYCLOAK  ·  :8080</a:t>
            </a:r>
            <a:endParaRPr lang="en-US" sz="1400" dirty="0"/>
          </a:p>
        </p:txBody>
      </p:sp>
      <p:sp>
        <p:nvSpPr>
          <p:cNvPr id="6" name="Text 4"/>
          <p:cNvSpPr/>
          <p:nvPr/>
        </p:nvSpPr>
        <p:spPr>
          <a:xfrm>
            <a:off x="457200" y="1618488"/>
            <a:ext cx="3794760" cy="256032"/>
          </a:xfrm>
          <a:prstGeom prst="rect">
            <a:avLst/>
          </a:prstGeom>
          <a:noFill/>
          <a:ln/>
        </p:spPr>
        <p:txBody>
          <a:bodyPr wrap="square" lIns="0" tIns="0" rIns="0" bIns="0" rtlCol="0" anchor="ctr"/>
          <a:lstStyle/>
          <a:p>
            <a:pPr marL="0" indent="0">
              <a:buNone/>
            </a:pPr>
            <a:r>
              <a:rPr lang="en-US" sz="950" i="1" dirty="0">
                <a:solidFill>
                  <a:srgbClr val="475569"/>
                </a:solidFill>
              </a:rPr>
              <a:t>quay.io/keycloak/keycloak:26.2</a:t>
            </a:r>
            <a:endParaRPr lang="en-US" sz="950" dirty="0"/>
          </a:p>
        </p:txBody>
      </p:sp>
      <p:sp>
        <p:nvSpPr>
          <p:cNvPr id="7" name="Text 5"/>
          <p:cNvSpPr/>
          <p:nvPr/>
        </p:nvSpPr>
        <p:spPr>
          <a:xfrm>
            <a:off x="457200" y="1920240"/>
            <a:ext cx="3794760" cy="2651760"/>
          </a:xfrm>
          <a:prstGeom prst="rect">
            <a:avLst/>
          </a:prstGeom>
          <a:noFill/>
          <a:ln/>
        </p:spPr>
        <p:txBody>
          <a:bodyPr wrap="square" rtlCol="0" anchor="ctr"/>
          <a:lstStyle/>
          <a:p>
            <a:pPr marL="342900" indent="-342900">
              <a:buSzPct val="100000"/>
              <a:buChar char="•"/>
            </a:pPr>
            <a:r>
              <a:rPr lang="en-US" sz="1200" dirty="0">
                <a:solidFill>
                  <a:srgbClr val="4C1D95"/>
                </a:solidFill>
              </a:rPr>
              <a:t>start-dev --import-realm</a:t>
            </a:r>
            <a:endParaRPr lang="en-US" sz="1200" dirty="0"/>
          </a:p>
          <a:p>
            <a:pPr marL="0" indent="0">
              <a:buNone/>
            </a:pPr>
            <a:r>
              <a:rPr lang="en-US" sz="1200" dirty="0">
                <a:solidFill>
                  <a:srgbClr val="475569"/>
                </a:solidFill>
              </a:rPr>
              <a:t>Importa realm-export.json al arrancar</a:t>
            </a:r>
            <a:endParaRPr lang="en-US" sz="1200" dirty="0"/>
          </a:p>
          <a:p>
            <a:pPr marL="0" indent="0">
              <a:buNone/>
            </a:pPr>
            <a:r>
              <a:rPr lang="en-US" sz="1200" dirty="0">
                <a:solidFill>
                  <a:srgbClr val="4C1D95"/>
                </a:solidFill>
              </a:rPr>
              <a:t> </a:t>
            </a:r>
            <a:endParaRPr lang="en-US" sz="1200" dirty="0"/>
          </a:p>
          <a:p>
            <a:pPr marL="342900" indent="-342900">
              <a:buSzPct val="100000"/>
              <a:buChar char="•"/>
            </a:pPr>
            <a:r>
              <a:rPr lang="en-US" sz="1200" dirty="0">
                <a:solidFill>
                  <a:srgbClr val="4C1D95"/>
                </a:solidFill>
              </a:rPr>
              <a:t>KC_HOSTNAME_STRICT: false</a:t>
            </a:r>
            <a:endParaRPr lang="en-US" sz="1200" dirty="0"/>
          </a:p>
          <a:p>
            <a:pPr marL="0" indent="0">
              <a:buNone/>
            </a:pPr>
            <a:r>
              <a:rPr lang="en-US" sz="1200" dirty="0">
                <a:solidFill>
                  <a:srgbClr val="475569"/>
                </a:solidFill>
              </a:rPr>
              <a:t>Acepta cualquier hostname en local</a:t>
            </a:r>
            <a:endParaRPr lang="en-US" sz="1200" dirty="0"/>
          </a:p>
          <a:p>
            <a:pPr marL="0" indent="0">
              <a:buNone/>
            </a:pPr>
            <a:r>
              <a:rPr lang="en-US" sz="1200" dirty="0">
                <a:solidFill>
                  <a:srgbClr val="4C1D95"/>
                </a:solidFill>
              </a:rPr>
              <a:t> </a:t>
            </a:r>
            <a:endParaRPr lang="en-US" sz="1200" dirty="0"/>
          </a:p>
          <a:p>
            <a:pPr marL="342900" indent="-342900">
              <a:buSzPct val="100000"/>
              <a:buChar char="•"/>
            </a:pPr>
            <a:r>
              <a:rPr lang="en-US" sz="1200" dirty="0">
                <a:solidFill>
                  <a:srgbClr val="4C1D95"/>
                </a:solidFill>
              </a:rPr>
              <a:t>KC_HTTP_ENABLED: true</a:t>
            </a:r>
            <a:endParaRPr lang="en-US" sz="1200" dirty="0"/>
          </a:p>
          <a:p>
            <a:pPr marL="0" indent="0">
              <a:buNone/>
            </a:pPr>
            <a:r>
              <a:rPr lang="en-US" sz="1200" dirty="0">
                <a:solidFill>
                  <a:srgbClr val="475569"/>
                </a:solidFill>
              </a:rPr>
              <a:t>HTTP habilitado para desarrollo</a:t>
            </a:r>
            <a:endParaRPr lang="en-US" sz="1200" dirty="0"/>
          </a:p>
          <a:p>
            <a:pPr marL="0" indent="0">
              <a:buNone/>
            </a:pPr>
            <a:r>
              <a:rPr lang="en-US" sz="1200" dirty="0">
                <a:solidFill>
                  <a:srgbClr val="4C1D95"/>
                </a:solidFill>
              </a:rPr>
              <a:t> </a:t>
            </a:r>
            <a:endParaRPr lang="en-US" sz="1200" dirty="0"/>
          </a:p>
          <a:p>
            <a:pPr marL="342900" indent="-342900">
              <a:buSzPct val="100000"/>
              <a:buChar char="•"/>
            </a:pPr>
            <a:r>
              <a:rPr lang="en-US" sz="1200" dirty="0">
                <a:solidFill>
                  <a:srgbClr val="4C1D95"/>
                </a:solidFill>
              </a:rPr>
              <a:t>Admin: admin / admin</a:t>
            </a:r>
            <a:endParaRPr lang="en-US" sz="1200" dirty="0"/>
          </a:p>
          <a:p>
            <a:pPr marL="0" indent="0">
              <a:buNone/>
            </a:pPr>
            <a:r>
              <a:rPr lang="en-US" sz="1200" dirty="0">
                <a:solidFill>
                  <a:srgbClr val="475569"/>
                </a:solidFill>
              </a:rPr>
              <a:t>Consola: localhost:8080/admin</a:t>
            </a:r>
            <a:endParaRPr lang="en-US" sz="1200" dirty="0"/>
          </a:p>
        </p:txBody>
      </p:sp>
      <p:sp>
        <p:nvSpPr>
          <p:cNvPr id="8" name="Shape 6"/>
          <p:cNvSpPr/>
          <p:nvPr/>
        </p:nvSpPr>
        <p:spPr>
          <a:xfrm>
            <a:off x="4709160" y="1115568"/>
            <a:ext cx="4160520" cy="3657600"/>
          </a:xfrm>
          <a:prstGeom prst="roundRect">
            <a:avLst>
              <a:gd name="adj" fmla="val 3000"/>
            </a:avLst>
          </a:prstGeom>
          <a:solidFill>
            <a:srgbClr val="F0FDF4"/>
          </a:solidFill>
          <a:ln/>
          <a:effectLst>
            <a:outerShdw blurRad="101600" dist="25400" dir="2700000" algn="bl" rotWithShape="0">
              <a:srgbClr val="1E293B">
                <a:alpha val="10000"/>
              </a:srgbClr>
            </a:outerShdw>
          </a:effectLst>
        </p:spPr>
        <p:txBody>
          <a:bodyPr/>
          <a:lstStyle/>
          <a:p>
            <a:endParaRPr lang="en-US"/>
          </a:p>
        </p:txBody>
      </p:sp>
      <p:sp>
        <p:nvSpPr>
          <p:cNvPr id="9" name="Text 7"/>
          <p:cNvSpPr/>
          <p:nvPr/>
        </p:nvSpPr>
        <p:spPr>
          <a:xfrm>
            <a:off x="4892040" y="1234440"/>
            <a:ext cx="3794760" cy="384048"/>
          </a:xfrm>
          <a:prstGeom prst="rect">
            <a:avLst/>
          </a:prstGeom>
          <a:noFill/>
          <a:ln/>
        </p:spPr>
        <p:txBody>
          <a:bodyPr wrap="square" lIns="0" tIns="0" rIns="0" bIns="0" rtlCol="0" anchor="ctr"/>
          <a:lstStyle/>
          <a:p>
            <a:pPr marL="0" indent="0">
              <a:buNone/>
            </a:pPr>
            <a:r>
              <a:rPr lang="en-US" sz="1400" b="1" dirty="0">
                <a:solidFill>
                  <a:srgbClr val="16A34A"/>
                </a:solidFill>
              </a:rPr>
              <a:t>POSTGRESQL  ·  :5432</a:t>
            </a:r>
            <a:endParaRPr lang="en-US" sz="1400" dirty="0"/>
          </a:p>
        </p:txBody>
      </p:sp>
      <p:sp>
        <p:nvSpPr>
          <p:cNvPr id="10" name="Text 8"/>
          <p:cNvSpPr/>
          <p:nvPr/>
        </p:nvSpPr>
        <p:spPr>
          <a:xfrm>
            <a:off x="4892040" y="1618488"/>
            <a:ext cx="3794760" cy="256032"/>
          </a:xfrm>
          <a:prstGeom prst="rect">
            <a:avLst/>
          </a:prstGeom>
          <a:noFill/>
          <a:ln/>
        </p:spPr>
        <p:txBody>
          <a:bodyPr wrap="square" lIns="0" tIns="0" rIns="0" bIns="0" rtlCol="0" anchor="ctr"/>
          <a:lstStyle/>
          <a:p>
            <a:pPr marL="0" indent="0">
              <a:buNone/>
            </a:pPr>
            <a:r>
              <a:rPr lang="en-US" sz="950" i="1" dirty="0">
                <a:solidFill>
                  <a:srgbClr val="475569"/>
                </a:solidFill>
              </a:rPr>
              <a:t>postgres:16-alpine</a:t>
            </a:r>
            <a:endParaRPr lang="en-US" sz="950" dirty="0"/>
          </a:p>
        </p:txBody>
      </p:sp>
      <p:sp>
        <p:nvSpPr>
          <p:cNvPr id="11" name="Text 9"/>
          <p:cNvSpPr/>
          <p:nvPr/>
        </p:nvSpPr>
        <p:spPr>
          <a:xfrm>
            <a:off x="4892040" y="1920240"/>
            <a:ext cx="3794760" cy="2651760"/>
          </a:xfrm>
          <a:prstGeom prst="rect">
            <a:avLst/>
          </a:prstGeom>
          <a:noFill/>
          <a:ln/>
        </p:spPr>
        <p:txBody>
          <a:bodyPr wrap="square" rtlCol="0" anchor="ctr"/>
          <a:lstStyle/>
          <a:p>
            <a:pPr marL="342900" indent="-342900">
              <a:buSzPct val="100000"/>
              <a:buChar char="•"/>
            </a:pPr>
            <a:r>
              <a:rPr lang="en-US" sz="1200" dirty="0">
                <a:solidFill>
                  <a:srgbClr val="14532D"/>
                </a:solidFill>
              </a:rPr>
              <a:t>POSTGRES_USER: veci</a:t>
            </a:r>
            <a:endParaRPr lang="en-US" sz="1200" dirty="0"/>
          </a:p>
          <a:p>
            <a:pPr marL="0" indent="0">
              <a:buNone/>
            </a:pPr>
            <a:r>
              <a:rPr lang="en-US" sz="1200" dirty="0">
                <a:solidFill>
                  <a:srgbClr val="14532D"/>
                </a:solidFill>
              </a:rPr>
              <a:t> </a:t>
            </a:r>
            <a:endParaRPr lang="en-US" sz="1200" dirty="0"/>
          </a:p>
          <a:p>
            <a:pPr marL="342900" indent="-342900">
              <a:buSzPct val="100000"/>
              <a:buChar char="•"/>
            </a:pPr>
            <a:r>
              <a:rPr lang="en-US" sz="1200" dirty="0">
                <a:solidFill>
                  <a:srgbClr val="14532D"/>
                </a:solidFill>
              </a:rPr>
              <a:t>POSTGRES_PASSWORD: veci1234</a:t>
            </a:r>
            <a:endParaRPr lang="en-US" sz="1200" dirty="0"/>
          </a:p>
          <a:p>
            <a:pPr marL="0" indent="0">
              <a:buNone/>
            </a:pPr>
            <a:r>
              <a:rPr lang="en-US" sz="1200" dirty="0">
                <a:solidFill>
                  <a:srgbClr val="14532D"/>
                </a:solidFill>
              </a:rPr>
              <a:t> </a:t>
            </a:r>
            <a:endParaRPr lang="en-US" sz="1200" dirty="0"/>
          </a:p>
          <a:p>
            <a:pPr marL="342900" indent="-342900">
              <a:buSzPct val="100000"/>
              <a:buChar char="•"/>
            </a:pPr>
            <a:r>
              <a:rPr lang="en-US" sz="1200" dirty="0">
                <a:solidFill>
                  <a:srgbClr val="14532D"/>
                </a:solidFill>
              </a:rPr>
              <a:t>POSTGRES_DB: veci_herramientas</a:t>
            </a:r>
            <a:endParaRPr lang="en-US" sz="1200" dirty="0"/>
          </a:p>
          <a:p>
            <a:pPr marL="0" indent="0">
              <a:buNone/>
            </a:pPr>
            <a:r>
              <a:rPr lang="en-US" sz="1200" dirty="0">
                <a:solidFill>
                  <a:srgbClr val="14532D"/>
                </a:solidFill>
              </a:rPr>
              <a:t> </a:t>
            </a:r>
            <a:endParaRPr lang="en-US" sz="1200" dirty="0"/>
          </a:p>
          <a:p>
            <a:pPr marL="342900" indent="-342900">
              <a:buSzPct val="100000"/>
              <a:buChar char="•"/>
            </a:pPr>
            <a:r>
              <a:rPr lang="en-US" sz="1200" dirty="0">
                <a:solidFill>
                  <a:srgbClr val="14532D"/>
                </a:solidFill>
              </a:rPr>
              <a:t>Volumen persistente: veci_pgdata</a:t>
            </a:r>
            <a:endParaRPr lang="en-US" sz="1200" dirty="0"/>
          </a:p>
          <a:p>
            <a:pPr marL="0" indent="0">
              <a:buNone/>
            </a:pPr>
            <a:r>
              <a:rPr lang="en-US" sz="1200" dirty="0">
                <a:solidFill>
                  <a:srgbClr val="14532D"/>
                </a:solidFill>
              </a:rPr>
              <a:t> </a:t>
            </a:r>
            <a:endParaRPr lang="en-US" sz="1200" dirty="0"/>
          </a:p>
          <a:p>
            <a:pPr marL="342900" indent="-342900">
              <a:buSzPct val="100000"/>
              <a:buChar char="•"/>
            </a:pPr>
            <a:r>
              <a:rPr lang="en-US" sz="1200" dirty="0">
                <a:solidFill>
                  <a:srgbClr val="14532D"/>
                </a:solidFill>
              </a:rPr>
              <a:t>Usado exclusivamente por NestJS</a:t>
            </a:r>
            <a:endParaRPr lang="en-US" sz="1200" dirty="0"/>
          </a:p>
          <a:p>
            <a:pPr marL="0" indent="0">
              <a:buNone/>
            </a:pPr>
            <a:r>
              <a:rPr lang="en-US" sz="1200" dirty="0">
                <a:solidFill>
                  <a:srgbClr val="475569"/>
                </a:solidFill>
              </a:rPr>
              <a:t>(RefugioHuellas usa Supabase)</a:t>
            </a:r>
            <a:endParaRPr lang="en-US" sz="1200" dirty="0"/>
          </a:p>
        </p:txBody>
      </p:sp>
      <p:sp>
        <p:nvSpPr>
          <p:cNvPr id="12" name="Shape 10"/>
          <p:cNvSpPr/>
          <p:nvPr/>
        </p:nvSpPr>
        <p:spPr>
          <a:xfrm>
            <a:off x="274320" y="4754880"/>
            <a:ext cx="8595360" cy="274320"/>
          </a:xfrm>
          <a:prstGeom prst="roundRect">
            <a:avLst>
              <a:gd name="adj" fmla="val 20000"/>
            </a:avLst>
          </a:prstGeom>
          <a:solidFill>
            <a:srgbClr val="1E293B"/>
          </a:solidFill>
          <a:ln/>
        </p:spPr>
        <p:txBody>
          <a:bodyPr/>
          <a:lstStyle/>
          <a:p>
            <a:endParaRPr lang="en-US"/>
          </a:p>
        </p:txBody>
      </p:sp>
      <p:sp>
        <p:nvSpPr>
          <p:cNvPr id="13" name="Text 11"/>
          <p:cNvSpPr/>
          <p:nvPr/>
        </p:nvSpPr>
        <p:spPr>
          <a:xfrm>
            <a:off x="365760" y="4764024"/>
            <a:ext cx="8412480" cy="256032"/>
          </a:xfrm>
          <a:prstGeom prst="rect">
            <a:avLst/>
          </a:prstGeom>
          <a:noFill/>
          <a:ln/>
        </p:spPr>
        <p:txBody>
          <a:bodyPr wrap="square" lIns="0" tIns="0" rIns="0" bIns="0" rtlCol="0" anchor="ctr"/>
          <a:lstStyle/>
          <a:p>
            <a:pPr marL="0" indent="0" algn="ctr">
              <a:buNone/>
            </a:pPr>
            <a:r>
              <a:rPr lang="en-US" sz="1050" dirty="0">
                <a:solidFill>
                  <a:srgbClr val="86EFAC"/>
                </a:solidFill>
                <a:latin typeface="Courier New" pitchFamily="34" charset="0"/>
                <a:ea typeface="Courier New" pitchFamily="34" charset="-122"/>
                <a:cs typeface="Courier New" pitchFamily="34" charset="-120"/>
              </a:rPr>
              <a:t>docker compose up -d   →   levanta Keycloak + PostgreSQL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600" b="1" dirty="0">
                <a:solidFill>
                  <a:srgbClr val="FFFFFF"/>
                </a:solidFill>
              </a:rPr>
              <a:t>Keycloak Realm: proyecto-dss</a:t>
            </a:r>
            <a:endParaRPr lang="en-US" sz="2600" dirty="0"/>
          </a:p>
        </p:txBody>
      </p:sp>
      <p:sp>
        <p:nvSpPr>
          <p:cNvPr id="4" name="Shape 2"/>
          <p:cNvSpPr/>
          <p:nvPr/>
        </p:nvSpPr>
        <p:spPr>
          <a:xfrm>
            <a:off x="201168" y="1115568"/>
            <a:ext cx="2834640" cy="3566160"/>
          </a:xfrm>
          <a:prstGeom prst="roundRect">
            <a:avLst>
              <a:gd name="adj" fmla="val 3871"/>
            </a:avLst>
          </a:prstGeom>
          <a:solidFill>
            <a:srgbClr val="FFF7ED"/>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329184" y="1207008"/>
            <a:ext cx="2578608" cy="365760"/>
          </a:xfrm>
          <a:prstGeom prst="rect">
            <a:avLst/>
          </a:prstGeom>
          <a:noFill/>
          <a:ln/>
        </p:spPr>
        <p:txBody>
          <a:bodyPr wrap="square" lIns="0" tIns="0" rIns="0" bIns="0" rtlCol="0" anchor="ctr"/>
          <a:lstStyle/>
          <a:p>
            <a:pPr marL="0" indent="0">
              <a:buNone/>
            </a:pPr>
            <a:r>
              <a:rPr lang="en-US" sz="1100" b="1" dirty="0">
                <a:solidFill>
                  <a:srgbClr val="D97706"/>
                </a:solidFill>
              </a:rPr>
              <a:t>refugiohuellas</a:t>
            </a:r>
            <a:endParaRPr lang="en-US" sz="1100" dirty="0"/>
          </a:p>
        </p:txBody>
      </p:sp>
      <p:sp>
        <p:nvSpPr>
          <p:cNvPr id="6" name="Shape 4"/>
          <p:cNvSpPr/>
          <p:nvPr/>
        </p:nvSpPr>
        <p:spPr>
          <a:xfrm>
            <a:off x="329184" y="1591056"/>
            <a:ext cx="1051560" cy="246888"/>
          </a:xfrm>
          <a:prstGeom prst="roundRect">
            <a:avLst>
              <a:gd name="adj" fmla="val 22222"/>
            </a:avLst>
          </a:prstGeom>
          <a:solidFill>
            <a:srgbClr val="D97706"/>
          </a:solidFill>
          <a:ln/>
        </p:spPr>
        <p:txBody>
          <a:bodyPr/>
          <a:lstStyle/>
          <a:p>
            <a:endParaRPr lang="en-US"/>
          </a:p>
        </p:txBody>
      </p:sp>
      <p:sp>
        <p:nvSpPr>
          <p:cNvPr id="7" name="Text 5"/>
          <p:cNvSpPr/>
          <p:nvPr/>
        </p:nvSpPr>
        <p:spPr>
          <a:xfrm>
            <a:off x="329184" y="1591056"/>
            <a:ext cx="1051560" cy="246888"/>
          </a:xfrm>
          <a:prstGeom prst="rect">
            <a:avLst/>
          </a:prstGeom>
          <a:noFill/>
          <a:ln/>
        </p:spPr>
        <p:txBody>
          <a:bodyPr wrap="square" lIns="0" tIns="0" rIns="0" bIns="0" rtlCol="0" anchor="ctr"/>
          <a:lstStyle/>
          <a:p>
            <a:pPr marL="0" indent="0" algn="ctr">
              <a:buNone/>
            </a:pPr>
            <a:r>
              <a:rPr lang="en-US" sz="800" b="1" dirty="0">
                <a:solidFill>
                  <a:srgbClr val="FFFFFF"/>
                </a:solidFill>
              </a:rPr>
              <a:t>Confidencial</a:t>
            </a:r>
            <a:endParaRPr lang="en-US" sz="800" dirty="0"/>
          </a:p>
        </p:txBody>
      </p:sp>
      <p:sp>
        <p:nvSpPr>
          <p:cNvPr id="8" name="Text 6"/>
          <p:cNvSpPr/>
          <p:nvPr/>
        </p:nvSpPr>
        <p:spPr>
          <a:xfrm>
            <a:off x="329184" y="1920240"/>
            <a:ext cx="2578608" cy="274320"/>
          </a:xfrm>
          <a:prstGeom prst="rect">
            <a:avLst/>
          </a:prstGeom>
          <a:noFill/>
          <a:ln/>
        </p:spPr>
        <p:txBody>
          <a:bodyPr wrap="square" lIns="0" tIns="0" rIns="0" bIns="0" rtlCol="0" anchor="ctr"/>
          <a:lstStyle/>
          <a:p>
            <a:pPr marL="0" indent="0">
              <a:buNone/>
            </a:pPr>
            <a:r>
              <a:rPr lang="en-US" sz="1100" i="1" dirty="0">
                <a:solidFill>
                  <a:srgbClr val="475569"/>
                </a:solidFill>
              </a:rPr>
              <a:t>ASP.NET MVC</a:t>
            </a:r>
            <a:endParaRPr lang="en-US" sz="1100" dirty="0"/>
          </a:p>
        </p:txBody>
      </p:sp>
      <p:sp>
        <p:nvSpPr>
          <p:cNvPr id="9" name="Text 7"/>
          <p:cNvSpPr/>
          <p:nvPr/>
        </p:nvSpPr>
        <p:spPr>
          <a:xfrm>
            <a:off x="329184" y="2240280"/>
            <a:ext cx="2578608" cy="2286000"/>
          </a:xfrm>
          <a:prstGeom prst="rect">
            <a:avLst/>
          </a:prstGeom>
          <a:noFill/>
          <a:ln/>
        </p:spPr>
        <p:txBody>
          <a:bodyPr wrap="square" rtlCol="0" anchor="ctr"/>
          <a:lstStyle/>
          <a:p>
            <a:pPr marL="342900" indent="-342900">
              <a:buSzPct val="100000"/>
              <a:buChar char="•"/>
            </a:pPr>
            <a:r>
              <a:rPr lang="en-US" sz="1100" dirty="0">
                <a:solidFill>
                  <a:srgbClr val="1E293B"/>
                </a:solidFill>
              </a:rPr>
              <a:t>Authorization Code + Cookie de sesión</a:t>
            </a:r>
            <a:endParaRPr lang="en-US" sz="1100" dirty="0"/>
          </a:p>
          <a:p>
            <a:pPr marL="342900" indent="-342900">
              <a:buSzPct val="100000"/>
              <a:buChar char="•"/>
            </a:pPr>
            <a:r>
              <a:rPr lang="en-US" sz="1100" dirty="0">
                <a:solidFill>
                  <a:srgbClr val="1E293B"/>
                </a:solidFill>
              </a:rPr>
              <a:t>Client secret compartido con el backend</a:t>
            </a:r>
            <a:endParaRPr lang="en-US" sz="1100" dirty="0"/>
          </a:p>
          <a:p>
            <a:pPr marL="342900" indent="-342900">
              <a:buSzPct val="100000"/>
              <a:buChar char="•"/>
            </a:pPr>
            <a:r>
              <a:rPr lang="en-US" sz="1100" dirty="0">
                <a:solidFill>
                  <a:srgbClr val="1E293B"/>
                </a:solidFill>
              </a:rPr>
              <a:t>redirect_uri: /signin-oidc</a:t>
            </a:r>
            <a:endParaRPr lang="en-US" sz="1100" dirty="0"/>
          </a:p>
          <a:p>
            <a:pPr marL="342900" indent="-342900">
              <a:buSzPct val="100000"/>
              <a:buChar char="•"/>
            </a:pPr>
            <a:r>
              <a:rPr lang="en-US" sz="1100" dirty="0">
                <a:solidFill>
                  <a:srgbClr val="1E293B"/>
                </a:solidFill>
              </a:rPr>
              <a:t>Gestiona: login/logout MVC con cookie</a:t>
            </a:r>
            <a:endParaRPr lang="en-US" sz="1100" dirty="0"/>
          </a:p>
        </p:txBody>
      </p:sp>
      <p:sp>
        <p:nvSpPr>
          <p:cNvPr id="10" name="Shape 8"/>
          <p:cNvSpPr/>
          <p:nvPr/>
        </p:nvSpPr>
        <p:spPr>
          <a:xfrm>
            <a:off x="3182112" y="1115568"/>
            <a:ext cx="2834640" cy="3566160"/>
          </a:xfrm>
          <a:prstGeom prst="roundRect">
            <a:avLst>
              <a:gd name="adj" fmla="val 3871"/>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11" name="Text 9"/>
          <p:cNvSpPr/>
          <p:nvPr/>
        </p:nvSpPr>
        <p:spPr>
          <a:xfrm>
            <a:off x="3310128" y="1207008"/>
            <a:ext cx="2578608" cy="365760"/>
          </a:xfrm>
          <a:prstGeom prst="rect">
            <a:avLst/>
          </a:prstGeom>
          <a:noFill/>
          <a:ln/>
        </p:spPr>
        <p:txBody>
          <a:bodyPr wrap="square" lIns="0" tIns="0" rIns="0" bIns="0" rtlCol="0" anchor="ctr"/>
          <a:lstStyle/>
          <a:p>
            <a:pPr marL="0" indent="0">
              <a:buNone/>
            </a:pPr>
            <a:r>
              <a:rPr lang="en-US" sz="1100" b="1" dirty="0">
                <a:solidFill>
                  <a:srgbClr val="0369A1"/>
                </a:solidFill>
              </a:rPr>
              <a:t>refugiohuellas-react</a:t>
            </a:r>
            <a:endParaRPr lang="en-US" sz="1100" dirty="0"/>
          </a:p>
        </p:txBody>
      </p:sp>
      <p:sp>
        <p:nvSpPr>
          <p:cNvPr id="12" name="Shape 10"/>
          <p:cNvSpPr/>
          <p:nvPr/>
        </p:nvSpPr>
        <p:spPr>
          <a:xfrm>
            <a:off x="3310128" y="1591056"/>
            <a:ext cx="1051560" cy="246888"/>
          </a:xfrm>
          <a:prstGeom prst="roundRect">
            <a:avLst>
              <a:gd name="adj" fmla="val 22222"/>
            </a:avLst>
          </a:prstGeom>
          <a:solidFill>
            <a:srgbClr val="0369A1"/>
          </a:solidFill>
          <a:ln/>
        </p:spPr>
        <p:txBody>
          <a:bodyPr/>
          <a:lstStyle/>
          <a:p>
            <a:endParaRPr lang="en-US"/>
          </a:p>
        </p:txBody>
      </p:sp>
      <p:sp>
        <p:nvSpPr>
          <p:cNvPr id="13" name="Text 11"/>
          <p:cNvSpPr/>
          <p:nvPr/>
        </p:nvSpPr>
        <p:spPr>
          <a:xfrm>
            <a:off x="3310128" y="1591056"/>
            <a:ext cx="1051560" cy="246888"/>
          </a:xfrm>
          <a:prstGeom prst="rect">
            <a:avLst/>
          </a:prstGeom>
          <a:noFill/>
          <a:ln/>
        </p:spPr>
        <p:txBody>
          <a:bodyPr wrap="square" lIns="0" tIns="0" rIns="0" bIns="0" rtlCol="0" anchor="ctr"/>
          <a:lstStyle/>
          <a:p>
            <a:pPr marL="0" indent="0" algn="ctr">
              <a:buNone/>
            </a:pPr>
            <a:r>
              <a:rPr lang="en-US" sz="800" b="1" dirty="0">
                <a:solidFill>
                  <a:srgbClr val="FFFFFF"/>
                </a:solidFill>
              </a:rPr>
              <a:t>Público PKCE</a:t>
            </a:r>
            <a:endParaRPr lang="en-US" sz="800" dirty="0"/>
          </a:p>
        </p:txBody>
      </p:sp>
      <p:sp>
        <p:nvSpPr>
          <p:cNvPr id="14" name="Text 12"/>
          <p:cNvSpPr/>
          <p:nvPr/>
        </p:nvSpPr>
        <p:spPr>
          <a:xfrm>
            <a:off x="3310128" y="1920240"/>
            <a:ext cx="2578608" cy="274320"/>
          </a:xfrm>
          <a:prstGeom prst="rect">
            <a:avLst/>
          </a:prstGeom>
          <a:noFill/>
          <a:ln/>
        </p:spPr>
        <p:txBody>
          <a:bodyPr wrap="square" lIns="0" tIns="0" rIns="0" bIns="0" rtlCol="0" anchor="ctr"/>
          <a:lstStyle/>
          <a:p>
            <a:pPr marL="0" indent="0">
              <a:buNone/>
            </a:pPr>
            <a:r>
              <a:rPr lang="en-US" sz="1100" i="1" dirty="0">
                <a:solidFill>
                  <a:srgbClr val="475569"/>
                </a:solidFill>
              </a:rPr>
              <a:t>React SPA</a:t>
            </a:r>
            <a:endParaRPr lang="en-US" sz="1100" dirty="0"/>
          </a:p>
        </p:txBody>
      </p:sp>
      <p:sp>
        <p:nvSpPr>
          <p:cNvPr id="15" name="Text 13"/>
          <p:cNvSpPr/>
          <p:nvPr/>
        </p:nvSpPr>
        <p:spPr>
          <a:xfrm>
            <a:off x="3310128" y="2240280"/>
            <a:ext cx="2578608" cy="2286000"/>
          </a:xfrm>
          <a:prstGeom prst="rect">
            <a:avLst/>
          </a:prstGeom>
          <a:noFill/>
          <a:ln/>
        </p:spPr>
        <p:txBody>
          <a:bodyPr wrap="square" rtlCol="0" anchor="ctr"/>
          <a:lstStyle/>
          <a:p>
            <a:pPr marL="342900" indent="-342900">
              <a:buSzPct val="100000"/>
              <a:buChar char="•"/>
            </a:pPr>
            <a:r>
              <a:rPr lang="en-US" sz="1100" dirty="0">
                <a:solidFill>
                  <a:srgbClr val="1E293B"/>
                </a:solidFill>
              </a:rPr>
              <a:t>Authorization Code + PKCE S256</a:t>
            </a:r>
            <a:endParaRPr lang="en-US" sz="1100" dirty="0"/>
          </a:p>
          <a:p>
            <a:pPr marL="342900" indent="-342900">
              <a:buSzPct val="100000"/>
              <a:buChar char="•"/>
            </a:pPr>
            <a:r>
              <a:rPr lang="en-US" sz="1100" dirty="0">
                <a:solidFill>
                  <a:srgbClr val="1E293B"/>
                </a:solidFill>
              </a:rPr>
              <a:t>Sin client secret (SPA pública)</a:t>
            </a:r>
            <a:endParaRPr lang="en-US" sz="1100" dirty="0"/>
          </a:p>
          <a:p>
            <a:pPr marL="342900" indent="-342900">
              <a:buSzPct val="100000"/>
              <a:buChar char="•"/>
            </a:pPr>
            <a:r>
              <a:rPr lang="en-US" sz="1100" dirty="0">
                <a:solidFill>
                  <a:srgbClr val="1E293B"/>
                </a:solidFill>
              </a:rPr>
              <a:t>redirect_uri: /app/ (base Vite)</a:t>
            </a:r>
            <a:endParaRPr lang="en-US" sz="1100" dirty="0"/>
          </a:p>
          <a:p>
            <a:pPr marL="342900" indent="-342900">
              <a:buSzPct val="100000"/>
              <a:buChar char="•"/>
            </a:pPr>
            <a:r>
              <a:rPr lang="en-US" sz="1100" dirty="0">
                <a:solidFill>
                  <a:srgbClr val="1E293B"/>
                </a:solidFill>
              </a:rPr>
              <a:t>Gestiona: tokens para llamadas a API</a:t>
            </a:r>
            <a:endParaRPr lang="en-US" sz="1100" dirty="0"/>
          </a:p>
        </p:txBody>
      </p:sp>
      <p:sp>
        <p:nvSpPr>
          <p:cNvPr id="16" name="Shape 14"/>
          <p:cNvSpPr/>
          <p:nvPr/>
        </p:nvSpPr>
        <p:spPr>
          <a:xfrm>
            <a:off x="6163056" y="1115568"/>
            <a:ext cx="2834640" cy="3566160"/>
          </a:xfrm>
          <a:prstGeom prst="roundRect">
            <a:avLst>
              <a:gd name="adj" fmla="val 3871"/>
            </a:avLst>
          </a:prstGeom>
          <a:solidFill>
            <a:srgbClr val="F0FDF4"/>
          </a:solidFill>
          <a:ln/>
          <a:effectLst>
            <a:outerShdw blurRad="101600" dist="25400" dir="2700000" algn="bl" rotWithShape="0">
              <a:srgbClr val="1E293B">
                <a:alpha val="10000"/>
              </a:srgbClr>
            </a:outerShdw>
          </a:effectLst>
        </p:spPr>
        <p:txBody>
          <a:bodyPr/>
          <a:lstStyle/>
          <a:p>
            <a:endParaRPr lang="en-US"/>
          </a:p>
        </p:txBody>
      </p:sp>
      <p:sp>
        <p:nvSpPr>
          <p:cNvPr id="17" name="Text 15"/>
          <p:cNvSpPr/>
          <p:nvPr/>
        </p:nvSpPr>
        <p:spPr>
          <a:xfrm>
            <a:off x="6291072" y="1207008"/>
            <a:ext cx="2578608" cy="365760"/>
          </a:xfrm>
          <a:prstGeom prst="rect">
            <a:avLst/>
          </a:prstGeom>
          <a:noFill/>
          <a:ln/>
        </p:spPr>
        <p:txBody>
          <a:bodyPr wrap="square" lIns="0" tIns="0" rIns="0" bIns="0" rtlCol="0" anchor="ctr"/>
          <a:lstStyle/>
          <a:p>
            <a:pPr marL="0" indent="0">
              <a:buNone/>
            </a:pPr>
            <a:r>
              <a:rPr lang="en-US" sz="1100" b="1" dirty="0">
                <a:solidFill>
                  <a:srgbClr val="0891B2"/>
                </a:solidFill>
              </a:rPr>
              <a:t>veci-herramientas</a:t>
            </a:r>
            <a:endParaRPr lang="en-US" sz="1100" dirty="0"/>
          </a:p>
        </p:txBody>
      </p:sp>
      <p:sp>
        <p:nvSpPr>
          <p:cNvPr id="18" name="Shape 16"/>
          <p:cNvSpPr/>
          <p:nvPr/>
        </p:nvSpPr>
        <p:spPr>
          <a:xfrm>
            <a:off x="6291072" y="1591056"/>
            <a:ext cx="1051560" cy="246888"/>
          </a:xfrm>
          <a:prstGeom prst="roundRect">
            <a:avLst>
              <a:gd name="adj" fmla="val 22222"/>
            </a:avLst>
          </a:prstGeom>
          <a:solidFill>
            <a:srgbClr val="0891B2"/>
          </a:solidFill>
          <a:ln/>
        </p:spPr>
        <p:txBody>
          <a:bodyPr/>
          <a:lstStyle/>
          <a:p>
            <a:endParaRPr lang="en-US"/>
          </a:p>
        </p:txBody>
      </p:sp>
      <p:sp>
        <p:nvSpPr>
          <p:cNvPr id="19" name="Text 17"/>
          <p:cNvSpPr/>
          <p:nvPr/>
        </p:nvSpPr>
        <p:spPr>
          <a:xfrm>
            <a:off x="6291072" y="1591056"/>
            <a:ext cx="1051560" cy="246888"/>
          </a:xfrm>
          <a:prstGeom prst="rect">
            <a:avLst/>
          </a:prstGeom>
          <a:noFill/>
          <a:ln/>
        </p:spPr>
        <p:txBody>
          <a:bodyPr wrap="square" lIns="0" tIns="0" rIns="0" bIns="0" rtlCol="0" anchor="ctr"/>
          <a:lstStyle/>
          <a:p>
            <a:pPr marL="0" indent="0" algn="ctr">
              <a:buNone/>
            </a:pPr>
            <a:r>
              <a:rPr lang="en-US" sz="800" b="1" dirty="0">
                <a:solidFill>
                  <a:srgbClr val="FFFFFF"/>
                </a:solidFill>
              </a:rPr>
              <a:t>Público PKCE</a:t>
            </a:r>
            <a:endParaRPr lang="en-US" sz="800" dirty="0"/>
          </a:p>
        </p:txBody>
      </p:sp>
      <p:sp>
        <p:nvSpPr>
          <p:cNvPr id="20" name="Text 18"/>
          <p:cNvSpPr/>
          <p:nvPr/>
        </p:nvSpPr>
        <p:spPr>
          <a:xfrm>
            <a:off x="6291072" y="1920240"/>
            <a:ext cx="2578608" cy="274320"/>
          </a:xfrm>
          <a:prstGeom prst="rect">
            <a:avLst/>
          </a:prstGeom>
          <a:noFill/>
          <a:ln/>
        </p:spPr>
        <p:txBody>
          <a:bodyPr wrap="square" lIns="0" tIns="0" rIns="0" bIns="0" rtlCol="0" anchor="ctr"/>
          <a:lstStyle/>
          <a:p>
            <a:pPr marL="0" indent="0">
              <a:buNone/>
            </a:pPr>
            <a:r>
              <a:rPr lang="en-US" sz="1100" i="1" dirty="0">
                <a:solidFill>
                  <a:srgbClr val="475569"/>
                </a:solidFill>
              </a:rPr>
              <a:t>Vue + React SPA</a:t>
            </a:r>
            <a:endParaRPr lang="en-US" sz="1100" dirty="0"/>
          </a:p>
        </p:txBody>
      </p:sp>
      <p:sp>
        <p:nvSpPr>
          <p:cNvPr id="21" name="Text 19"/>
          <p:cNvSpPr/>
          <p:nvPr/>
        </p:nvSpPr>
        <p:spPr>
          <a:xfrm>
            <a:off x="6291072" y="2240280"/>
            <a:ext cx="2578608" cy="2286000"/>
          </a:xfrm>
          <a:prstGeom prst="rect">
            <a:avLst/>
          </a:prstGeom>
          <a:noFill/>
          <a:ln/>
        </p:spPr>
        <p:txBody>
          <a:bodyPr wrap="square" rtlCol="0" anchor="ctr"/>
          <a:lstStyle/>
          <a:p>
            <a:pPr marL="342900" indent="-342900">
              <a:buSzPct val="100000"/>
              <a:buChar char="•"/>
            </a:pPr>
            <a:r>
              <a:rPr lang="en-US" sz="1100" dirty="0">
                <a:solidFill>
                  <a:srgbClr val="1E293B"/>
                </a:solidFill>
              </a:rPr>
              <a:t>Authorization Code + PKCE S256</a:t>
            </a:r>
            <a:endParaRPr lang="en-US" sz="1100" dirty="0"/>
          </a:p>
          <a:p>
            <a:pPr marL="342900" indent="-342900">
              <a:buSzPct val="100000"/>
              <a:buChar char="•"/>
            </a:pPr>
            <a:r>
              <a:rPr lang="en-US" sz="1100" dirty="0">
                <a:solidFill>
                  <a:srgbClr val="1E293B"/>
                </a:solidFill>
              </a:rPr>
              <a:t>Sin client secret (SPA pública)</a:t>
            </a:r>
            <a:endParaRPr lang="en-US" sz="1100" dirty="0"/>
          </a:p>
          <a:p>
            <a:pPr marL="342900" indent="-342900">
              <a:buSzPct val="100000"/>
              <a:buChar char="•"/>
            </a:pPr>
            <a:r>
              <a:rPr lang="en-US" sz="1100" dirty="0">
                <a:solidFill>
                  <a:srgbClr val="1E293B"/>
                </a:solidFill>
              </a:rPr>
              <a:t>redirect_uri: :5173/*, :5174/*</a:t>
            </a:r>
            <a:endParaRPr lang="en-US" sz="1100" dirty="0"/>
          </a:p>
          <a:p>
            <a:pPr marL="342900" indent="-342900">
              <a:buSzPct val="100000"/>
              <a:buChar char="•"/>
            </a:pPr>
            <a:r>
              <a:rPr lang="en-US" sz="1100" dirty="0">
                <a:solidFill>
                  <a:srgbClr val="1E293B"/>
                </a:solidFill>
              </a:rPr>
              <a:t>Gestiona: acceso a NestJS API</a:t>
            </a:r>
            <a:endParaRPr lang="en-US" sz="1100" dirty="0"/>
          </a:p>
        </p:txBody>
      </p:sp>
      <p:sp>
        <p:nvSpPr>
          <p:cNvPr id="22" name="Shape 20"/>
          <p:cNvSpPr/>
          <p:nvPr/>
        </p:nvSpPr>
        <p:spPr>
          <a:xfrm>
            <a:off x="201168" y="4736592"/>
            <a:ext cx="8741664" cy="320040"/>
          </a:xfrm>
          <a:prstGeom prst="roundRect">
            <a:avLst>
              <a:gd name="adj" fmla="val 22857"/>
            </a:avLst>
          </a:prstGeom>
          <a:solidFill>
            <a:srgbClr val="E0E7FF"/>
          </a:solidFill>
          <a:ln/>
        </p:spPr>
        <p:txBody>
          <a:bodyPr/>
          <a:lstStyle/>
          <a:p>
            <a:endParaRPr lang="en-US"/>
          </a:p>
        </p:txBody>
      </p:sp>
      <p:sp>
        <p:nvSpPr>
          <p:cNvPr id="23" name="Text 21"/>
          <p:cNvSpPr/>
          <p:nvPr/>
        </p:nvSpPr>
        <p:spPr>
          <a:xfrm>
            <a:off x="292608" y="4754880"/>
            <a:ext cx="8558784" cy="283464"/>
          </a:xfrm>
          <a:prstGeom prst="rect">
            <a:avLst/>
          </a:prstGeom>
          <a:noFill/>
          <a:ln/>
        </p:spPr>
        <p:txBody>
          <a:bodyPr wrap="square" lIns="0" tIns="0" rIns="0" bIns="0" rtlCol="0" anchor="ctr"/>
          <a:lstStyle/>
          <a:p>
            <a:pPr marL="0" indent="0" algn="ctr">
              <a:buNone/>
            </a:pPr>
            <a:r>
              <a:rPr lang="en-US" sz="1100" b="1" dirty="0">
                <a:solidFill>
                  <a:srgbClr val="3730A3"/>
                </a:solidFill>
              </a:rPr>
              <a:t>Los 3 clientes están en el mismo realm  →  comparten la misma sesión Keycloak  →  SSO automático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B4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marL="0" indent="0" algn="ctr">
              <a:buNone/>
            </a:pPr>
            <a:r>
              <a:rPr lang="en-US" sz="3000" b="1" dirty="0">
                <a:solidFill>
                  <a:srgbClr val="FFFFFF"/>
                </a:solidFill>
              </a:rPr>
              <a:t>Flujo SSO — Paso a Paso</a:t>
            </a:r>
            <a:endParaRPr lang="en-US" sz="3000" dirty="0"/>
          </a:p>
        </p:txBody>
      </p:sp>
      <p:sp>
        <p:nvSpPr>
          <p:cNvPr id="3" name="Text 1"/>
          <p:cNvSpPr/>
          <p:nvPr/>
        </p:nvSpPr>
        <p:spPr>
          <a:xfrm>
            <a:off x="457200" y="749808"/>
            <a:ext cx="8229600" cy="320040"/>
          </a:xfrm>
          <a:prstGeom prst="rect">
            <a:avLst/>
          </a:prstGeom>
          <a:noFill/>
          <a:ln/>
        </p:spPr>
        <p:txBody>
          <a:bodyPr wrap="square" lIns="0" tIns="0" rIns="0" bIns="0" rtlCol="0" anchor="ctr"/>
          <a:lstStyle/>
          <a:p>
            <a:pPr marL="0" indent="0" algn="ctr">
              <a:buNone/>
            </a:pPr>
            <a:r>
              <a:rPr lang="en-US" sz="1300" dirty="0">
                <a:solidFill>
                  <a:srgbClr val="BAE6FD"/>
                </a:solidFill>
              </a:rPr>
              <a:t>¿Cómo detecta App B que el usuario ya inició sesión en App A?</a:t>
            </a:r>
            <a:endParaRPr lang="en-US" sz="1300" dirty="0"/>
          </a:p>
        </p:txBody>
      </p:sp>
      <p:sp>
        <p:nvSpPr>
          <p:cNvPr id="4" name="Shape 2"/>
          <p:cNvSpPr/>
          <p:nvPr/>
        </p:nvSpPr>
        <p:spPr>
          <a:xfrm>
            <a:off x="347472" y="1170432"/>
            <a:ext cx="475488" cy="475488"/>
          </a:xfrm>
          <a:prstGeom prst="ellipse">
            <a:avLst/>
          </a:prstGeom>
          <a:solidFill>
            <a:srgbClr val="0891B2"/>
          </a:solidFill>
          <a:ln/>
        </p:spPr>
        <p:txBody>
          <a:bodyPr/>
          <a:lstStyle/>
          <a:p>
            <a:endParaRPr lang="en-US"/>
          </a:p>
        </p:txBody>
      </p:sp>
      <p:sp>
        <p:nvSpPr>
          <p:cNvPr id="5" name="Text 3"/>
          <p:cNvSpPr/>
          <p:nvPr/>
        </p:nvSpPr>
        <p:spPr>
          <a:xfrm>
            <a:off x="347472" y="1170432"/>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p:nvPr/>
        </p:nvSpPr>
        <p:spPr>
          <a:xfrm>
            <a:off x="969264" y="1133856"/>
            <a:ext cx="7863840" cy="256032"/>
          </a:xfrm>
          <a:prstGeom prst="rect">
            <a:avLst/>
          </a:prstGeom>
          <a:noFill/>
          <a:ln/>
        </p:spPr>
        <p:txBody>
          <a:bodyPr wrap="square" lIns="0" tIns="0" rIns="0" bIns="0" rtlCol="0" anchor="ctr"/>
          <a:lstStyle/>
          <a:p>
            <a:pPr marL="0" indent="0">
              <a:buNone/>
            </a:pPr>
            <a:r>
              <a:rPr lang="en-US" sz="1250" b="1" dirty="0">
                <a:solidFill>
                  <a:srgbClr val="BAE6FD"/>
                </a:solidFill>
              </a:rPr>
              <a:t>Usuario hace click en Login (App A)</a:t>
            </a:r>
            <a:endParaRPr lang="en-US" sz="1250" dirty="0"/>
          </a:p>
        </p:txBody>
      </p:sp>
      <p:sp>
        <p:nvSpPr>
          <p:cNvPr id="7" name="Text 5"/>
          <p:cNvSpPr/>
          <p:nvPr/>
        </p:nvSpPr>
        <p:spPr>
          <a:xfrm>
            <a:off x="969264" y="1399032"/>
            <a:ext cx="7863840" cy="393192"/>
          </a:xfrm>
          <a:prstGeom prst="rect">
            <a:avLst/>
          </a:prstGeom>
          <a:noFill/>
          <a:ln/>
        </p:spPr>
        <p:txBody>
          <a:bodyPr wrap="square" lIns="0" tIns="0" rIns="0" bIns="0" rtlCol="0" anchor="ctr"/>
          <a:lstStyle/>
          <a:p>
            <a:pPr marL="0" indent="0">
              <a:buNone/>
            </a:pPr>
            <a:r>
              <a:rPr lang="en-US" sz="1050" dirty="0">
                <a:solidFill>
                  <a:srgbClr val="CBD5E1"/>
                </a:solidFill>
              </a:rPr>
              <a:t>La app redirige al Authorization Endpoint de Keycloak con client_id, redirect_uri y code_challenge (PKCE S256)</a:t>
            </a:r>
            <a:endParaRPr lang="en-US" sz="1050" dirty="0"/>
          </a:p>
        </p:txBody>
      </p:sp>
      <p:sp>
        <p:nvSpPr>
          <p:cNvPr id="8" name="Shape 6"/>
          <p:cNvSpPr/>
          <p:nvPr/>
        </p:nvSpPr>
        <p:spPr>
          <a:xfrm>
            <a:off x="566928" y="1645920"/>
            <a:ext cx="0" cy="173736"/>
          </a:xfrm>
          <a:prstGeom prst="line">
            <a:avLst/>
          </a:prstGeom>
          <a:noFill/>
          <a:ln w="15240">
            <a:solidFill>
              <a:srgbClr val="0891B2"/>
            </a:solidFill>
            <a:prstDash val="sysDash"/>
          </a:ln>
        </p:spPr>
        <p:txBody>
          <a:bodyPr/>
          <a:lstStyle/>
          <a:p>
            <a:endParaRPr lang="en-US"/>
          </a:p>
        </p:txBody>
      </p:sp>
      <p:sp>
        <p:nvSpPr>
          <p:cNvPr id="9" name="Shape 7"/>
          <p:cNvSpPr/>
          <p:nvPr/>
        </p:nvSpPr>
        <p:spPr>
          <a:xfrm>
            <a:off x="347472" y="1901952"/>
            <a:ext cx="475488" cy="475488"/>
          </a:xfrm>
          <a:prstGeom prst="ellipse">
            <a:avLst/>
          </a:prstGeom>
          <a:solidFill>
            <a:srgbClr val="0891B2"/>
          </a:solidFill>
          <a:ln/>
        </p:spPr>
        <p:txBody>
          <a:bodyPr/>
          <a:lstStyle/>
          <a:p>
            <a:endParaRPr lang="en-US"/>
          </a:p>
        </p:txBody>
      </p:sp>
      <p:sp>
        <p:nvSpPr>
          <p:cNvPr id="10" name="Text 8"/>
          <p:cNvSpPr/>
          <p:nvPr/>
        </p:nvSpPr>
        <p:spPr>
          <a:xfrm>
            <a:off x="347472" y="1901952"/>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969264" y="1865376"/>
            <a:ext cx="7863840" cy="256032"/>
          </a:xfrm>
          <a:prstGeom prst="rect">
            <a:avLst/>
          </a:prstGeom>
          <a:noFill/>
          <a:ln/>
        </p:spPr>
        <p:txBody>
          <a:bodyPr wrap="square" lIns="0" tIns="0" rIns="0" bIns="0" rtlCol="0" anchor="ctr"/>
          <a:lstStyle/>
          <a:p>
            <a:pPr marL="0" indent="0">
              <a:buNone/>
            </a:pPr>
            <a:r>
              <a:rPr lang="en-US" sz="1250" b="1" dirty="0">
                <a:solidFill>
                  <a:srgbClr val="BAE6FD"/>
                </a:solidFill>
              </a:rPr>
              <a:t>Keycloak presenta pantalla de login</a:t>
            </a:r>
            <a:endParaRPr lang="en-US" sz="1250" dirty="0"/>
          </a:p>
        </p:txBody>
      </p:sp>
      <p:sp>
        <p:nvSpPr>
          <p:cNvPr id="12" name="Text 10"/>
          <p:cNvSpPr/>
          <p:nvPr/>
        </p:nvSpPr>
        <p:spPr>
          <a:xfrm>
            <a:off x="969264" y="2130552"/>
            <a:ext cx="7863840" cy="393192"/>
          </a:xfrm>
          <a:prstGeom prst="rect">
            <a:avLst/>
          </a:prstGeom>
          <a:noFill/>
          <a:ln/>
        </p:spPr>
        <p:txBody>
          <a:bodyPr wrap="square" lIns="0" tIns="0" rIns="0" bIns="0" rtlCol="0" anchor="ctr"/>
          <a:lstStyle/>
          <a:p>
            <a:pPr marL="0" indent="0">
              <a:buNone/>
            </a:pPr>
            <a:r>
              <a:rPr lang="en-US" sz="1050" dirty="0">
                <a:solidFill>
                  <a:srgbClr val="CBD5E1"/>
                </a:solidFill>
              </a:rPr>
              <a:t>El usuario ingresa sus credenciales. Keycloak valida y crea la sesión (cookie KEYCLOAK_SESSION en el browser)</a:t>
            </a:r>
            <a:endParaRPr lang="en-US" sz="1050" dirty="0"/>
          </a:p>
        </p:txBody>
      </p:sp>
      <p:sp>
        <p:nvSpPr>
          <p:cNvPr id="13" name="Shape 11"/>
          <p:cNvSpPr/>
          <p:nvPr/>
        </p:nvSpPr>
        <p:spPr>
          <a:xfrm>
            <a:off x="566928" y="2377440"/>
            <a:ext cx="0" cy="173736"/>
          </a:xfrm>
          <a:prstGeom prst="line">
            <a:avLst/>
          </a:prstGeom>
          <a:noFill/>
          <a:ln w="15240">
            <a:solidFill>
              <a:srgbClr val="0891B2"/>
            </a:solidFill>
            <a:prstDash val="sysDash"/>
          </a:ln>
        </p:spPr>
        <p:txBody>
          <a:bodyPr/>
          <a:lstStyle/>
          <a:p>
            <a:endParaRPr lang="en-US"/>
          </a:p>
        </p:txBody>
      </p:sp>
      <p:sp>
        <p:nvSpPr>
          <p:cNvPr id="14" name="Shape 12"/>
          <p:cNvSpPr/>
          <p:nvPr/>
        </p:nvSpPr>
        <p:spPr>
          <a:xfrm>
            <a:off x="347472" y="2633472"/>
            <a:ext cx="475488" cy="475488"/>
          </a:xfrm>
          <a:prstGeom prst="ellipse">
            <a:avLst/>
          </a:prstGeom>
          <a:solidFill>
            <a:srgbClr val="0891B2"/>
          </a:solidFill>
          <a:ln/>
        </p:spPr>
        <p:txBody>
          <a:bodyPr/>
          <a:lstStyle/>
          <a:p>
            <a:endParaRPr lang="en-US"/>
          </a:p>
        </p:txBody>
      </p:sp>
      <p:sp>
        <p:nvSpPr>
          <p:cNvPr id="15" name="Text 13"/>
          <p:cNvSpPr/>
          <p:nvPr/>
        </p:nvSpPr>
        <p:spPr>
          <a:xfrm>
            <a:off x="347472" y="2633472"/>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6" name="Text 14"/>
          <p:cNvSpPr/>
          <p:nvPr/>
        </p:nvSpPr>
        <p:spPr>
          <a:xfrm>
            <a:off x="969264" y="2596896"/>
            <a:ext cx="7863840" cy="256032"/>
          </a:xfrm>
          <a:prstGeom prst="rect">
            <a:avLst/>
          </a:prstGeom>
          <a:noFill/>
          <a:ln/>
        </p:spPr>
        <p:txBody>
          <a:bodyPr wrap="square" lIns="0" tIns="0" rIns="0" bIns="0" rtlCol="0" anchor="ctr"/>
          <a:lstStyle/>
          <a:p>
            <a:pPr marL="0" indent="0">
              <a:buNone/>
            </a:pPr>
            <a:r>
              <a:rPr lang="en-US" sz="1250" b="1" dirty="0">
                <a:solidFill>
                  <a:srgbClr val="BAE6FD"/>
                </a:solidFill>
              </a:rPr>
              <a:t>Keycloak devuelve Authorization Code</a:t>
            </a:r>
            <a:endParaRPr lang="en-US" sz="1250" dirty="0"/>
          </a:p>
        </p:txBody>
      </p:sp>
      <p:sp>
        <p:nvSpPr>
          <p:cNvPr id="17" name="Text 15"/>
          <p:cNvSpPr/>
          <p:nvPr/>
        </p:nvSpPr>
        <p:spPr>
          <a:xfrm>
            <a:off x="969264" y="2862072"/>
            <a:ext cx="7863840" cy="393192"/>
          </a:xfrm>
          <a:prstGeom prst="rect">
            <a:avLst/>
          </a:prstGeom>
          <a:noFill/>
          <a:ln/>
        </p:spPr>
        <p:txBody>
          <a:bodyPr wrap="square" lIns="0" tIns="0" rIns="0" bIns="0" rtlCol="0" anchor="ctr"/>
          <a:lstStyle/>
          <a:p>
            <a:pPr marL="0" indent="0">
              <a:buNone/>
            </a:pPr>
            <a:r>
              <a:rPr lang="en-US" sz="1050" dirty="0">
                <a:solidFill>
                  <a:srgbClr val="CBD5E1"/>
                </a:solidFill>
              </a:rPr>
              <a:t>Redirige a redirect_uri con ?code=... La app intercambia el código por access_token + id_token</a:t>
            </a:r>
            <a:endParaRPr lang="en-US" sz="1050" dirty="0"/>
          </a:p>
        </p:txBody>
      </p:sp>
      <p:sp>
        <p:nvSpPr>
          <p:cNvPr id="18" name="Shape 16"/>
          <p:cNvSpPr/>
          <p:nvPr/>
        </p:nvSpPr>
        <p:spPr>
          <a:xfrm>
            <a:off x="566928" y="3108960"/>
            <a:ext cx="0" cy="173736"/>
          </a:xfrm>
          <a:prstGeom prst="line">
            <a:avLst/>
          </a:prstGeom>
          <a:noFill/>
          <a:ln w="15240">
            <a:solidFill>
              <a:srgbClr val="0891B2"/>
            </a:solidFill>
            <a:prstDash val="sysDash"/>
          </a:ln>
        </p:spPr>
        <p:txBody>
          <a:bodyPr/>
          <a:lstStyle/>
          <a:p>
            <a:endParaRPr lang="en-US"/>
          </a:p>
        </p:txBody>
      </p:sp>
      <p:sp>
        <p:nvSpPr>
          <p:cNvPr id="19" name="Shape 17"/>
          <p:cNvSpPr/>
          <p:nvPr/>
        </p:nvSpPr>
        <p:spPr>
          <a:xfrm>
            <a:off x="347472" y="3364992"/>
            <a:ext cx="475488" cy="475488"/>
          </a:xfrm>
          <a:prstGeom prst="ellipse">
            <a:avLst/>
          </a:prstGeom>
          <a:solidFill>
            <a:srgbClr val="0891B2"/>
          </a:solidFill>
          <a:ln/>
        </p:spPr>
        <p:txBody>
          <a:bodyPr/>
          <a:lstStyle/>
          <a:p>
            <a:endParaRPr lang="en-US"/>
          </a:p>
        </p:txBody>
      </p:sp>
      <p:sp>
        <p:nvSpPr>
          <p:cNvPr id="20" name="Text 18"/>
          <p:cNvSpPr/>
          <p:nvPr/>
        </p:nvSpPr>
        <p:spPr>
          <a:xfrm>
            <a:off x="347472" y="3364992"/>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Text 19"/>
          <p:cNvSpPr/>
          <p:nvPr/>
        </p:nvSpPr>
        <p:spPr>
          <a:xfrm>
            <a:off x="969264" y="3328416"/>
            <a:ext cx="7863840" cy="256032"/>
          </a:xfrm>
          <a:prstGeom prst="rect">
            <a:avLst/>
          </a:prstGeom>
          <a:noFill/>
          <a:ln/>
        </p:spPr>
        <p:txBody>
          <a:bodyPr wrap="square" lIns="0" tIns="0" rIns="0" bIns="0" rtlCol="0" anchor="ctr"/>
          <a:lstStyle/>
          <a:p>
            <a:pPr marL="0" indent="0">
              <a:buNone/>
            </a:pPr>
            <a:r>
              <a:rPr lang="en-US" sz="1250" b="1" dirty="0">
                <a:solidFill>
                  <a:srgbClr val="BAE6FD"/>
                </a:solidFill>
              </a:rPr>
              <a:t>App A almacena el token — usuario logueado</a:t>
            </a:r>
            <a:endParaRPr lang="en-US" sz="1250" dirty="0"/>
          </a:p>
        </p:txBody>
      </p:sp>
      <p:sp>
        <p:nvSpPr>
          <p:cNvPr id="22" name="Text 20"/>
          <p:cNvSpPr/>
          <p:nvPr/>
        </p:nvSpPr>
        <p:spPr>
          <a:xfrm>
            <a:off x="969264" y="3593592"/>
            <a:ext cx="7863840" cy="393192"/>
          </a:xfrm>
          <a:prstGeom prst="rect">
            <a:avLst/>
          </a:prstGeom>
          <a:noFill/>
          <a:ln/>
        </p:spPr>
        <p:txBody>
          <a:bodyPr wrap="square" lIns="0" tIns="0" rIns="0" bIns="0" rtlCol="0" anchor="ctr"/>
          <a:lstStyle/>
          <a:p>
            <a:pPr marL="0" indent="0">
              <a:buNone/>
            </a:pPr>
            <a:r>
              <a:rPr lang="en-US" sz="1050" dirty="0">
                <a:solidFill>
                  <a:srgbClr val="CBD5E1"/>
                </a:solidFill>
              </a:rPr>
              <a:t>keycloak-js guarda el token en memoria. La sesión SSO ya existe en Keycloak (cookie de sesión activa)</a:t>
            </a:r>
            <a:endParaRPr lang="en-US" sz="1050" dirty="0"/>
          </a:p>
        </p:txBody>
      </p:sp>
      <p:sp>
        <p:nvSpPr>
          <p:cNvPr id="23" name="Shape 21"/>
          <p:cNvSpPr/>
          <p:nvPr/>
        </p:nvSpPr>
        <p:spPr>
          <a:xfrm>
            <a:off x="566928" y="3840480"/>
            <a:ext cx="0" cy="173736"/>
          </a:xfrm>
          <a:prstGeom prst="line">
            <a:avLst/>
          </a:prstGeom>
          <a:noFill/>
          <a:ln w="15240">
            <a:solidFill>
              <a:srgbClr val="0891B2"/>
            </a:solidFill>
            <a:prstDash val="sysDash"/>
          </a:ln>
        </p:spPr>
        <p:txBody>
          <a:bodyPr/>
          <a:lstStyle/>
          <a:p>
            <a:endParaRPr lang="en-US"/>
          </a:p>
        </p:txBody>
      </p:sp>
      <p:sp>
        <p:nvSpPr>
          <p:cNvPr id="24" name="Shape 22"/>
          <p:cNvSpPr/>
          <p:nvPr/>
        </p:nvSpPr>
        <p:spPr>
          <a:xfrm>
            <a:off x="347472" y="4096512"/>
            <a:ext cx="475488" cy="475488"/>
          </a:xfrm>
          <a:prstGeom prst="ellipse">
            <a:avLst/>
          </a:prstGeom>
          <a:solidFill>
            <a:srgbClr val="0891B2"/>
          </a:solidFill>
          <a:ln/>
        </p:spPr>
        <p:txBody>
          <a:bodyPr/>
          <a:lstStyle/>
          <a:p>
            <a:endParaRPr lang="en-US"/>
          </a:p>
        </p:txBody>
      </p:sp>
      <p:sp>
        <p:nvSpPr>
          <p:cNvPr id="25" name="Text 23"/>
          <p:cNvSpPr/>
          <p:nvPr/>
        </p:nvSpPr>
        <p:spPr>
          <a:xfrm>
            <a:off x="347472" y="4096512"/>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p:nvPr/>
        </p:nvSpPr>
        <p:spPr>
          <a:xfrm>
            <a:off x="969264" y="4059936"/>
            <a:ext cx="7863840" cy="256032"/>
          </a:xfrm>
          <a:prstGeom prst="rect">
            <a:avLst/>
          </a:prstGeom>
          <a:noFill/>
          <a:ln/>
        </p:spPr>
        <p:txBody>
          <a:bodyPr wrap="square" lIns="0" tIns="0" rIns="0" bIns="0" rtlCol="0" anchor="ctr"/>
          <a:lstStyle/>
          <a:p>
            <a:pPr marL="0" indent="0">
              <a:buNone/>
            </a:pPr>
            <a:r>
              <a:rPr lang="en-US" sz="1250" b="1" dirty="0">
                <a:solidFill>
                  <a:srgbClr val="BAE6FD"/>
                </a:solidFill>
              </a:rPr>
              <a:t>Usuario abre App B — check-sso silencioso</a:t>
            </a:r>
            <a:endParaRPr lang="en-US" sz="1250" dirty="0"/>
          </a:p>
        </p:txBody>
      </p:sp>
      <p:sp>
        <p:nvSpPr>
          <p:cNvPr id="27" name="Text 25"/>
          <p:cNvSpPr/>
          <p:nvPr/>
        </p:nvSpPr>
        <p:spPr>
          <a:xfrm>
            <a:off x="969264" y="4325112"/>
            <a:ext cx="7863840" cy="393192"/>
          </a:xfrm>
          <a:prstGeom prst="rect">
            <a:avLst/>
          </a:prstGeom>
          <a:noFill/>
          <a:ln/>
        </p:spPr>
        <p:txBody>
          <a:bodyPr wrap="square" lIns="0" tIns="0" rIns="0" bIns="0" rtlCol="0" anchor="ctr"/>
          <a:lstStyle/>
          <a:p>
            <a:pPr marL="0" indent="0">
              <a:buNone/>
            </a:pPr>
            <a:r>
              <a:rPr lang="en-US" sz="1050" dirty="0">
                <a:solidFill>
                  <a:srgbClr val="CBD5E1"/>
                </a:solidFill>
              </a:rPr>
              <a:t>App B hace una petición silenciosa vía iframe oculto. Keycloak detecta la cookie de sesión → devuelve token automáticamente, sin pedir credenciales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400" b="1" dirty="0">
                <a:solidFill>
                  <a:srgbClr val="FFFFFF"/>
                </a:solidFill>
              </a:rPr>
              <a:t>Implementación Frontends (keycloak-js)</a:t>
            </a:r>
            <a:endParaRPr lang="en-US" sz="2400" dirty="0"/>
          </a:p>
        </p:txBody>
      </p:sp>
      <p:sp>
        <p:nvSpPr>
          <p:cNvPr id="4" name="Shape 2"/>
          <p:cNvSpPr/>
          <p:nvPr/>
        </p:nvSpPr>
        <p:spPr>
          <a:xfrm>
            <a:off x="320040" y="1078992"/>
            <a:ext cx="5029200" cy="2468880"/>
          </a:xfrm>
          <a:prstGeom prst="roundRect">
            <a:avLst>
              <a:gd name="adj" fmla="val 3704"/>
            </a:avLst>
          </a:prstGeom>
          <a:solidFill>
            <a:srgbClr val="1E293B"/>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457200" y="1170432"/>
            <a:ext cx="4754880" cy="274320"/>
          </a:xfrm>
          <a:prstGeom prst="rect">
            <a:avLst/>
          </a:prstGeom>
          <a:noFill/>
          <a:ln/>
        </p:spPr>
        <p:txBody>
          <a:bodyPr wrap="square" lIns="0" tIns="0" rIns="0" bIns="0" rtlCol="0" anchor="ctr"/>
          <a:lstStyle/>
          <a:p>
            <a:pPr marL="0" indent="0">
              <a:buNone/>
            </a:pPr>
            <a:r>
              <a:rPr lang="en-US" sz="1000" dirty="0">
                <a:solidFill>
                  <a:srgbClr val="94A3B8"/>
                </a:solidFill>
              </a:rPr>
              <a:t>keycloak.init()  —  aplicado en los 3 frontends</a:t>
            </a:r>
            <a:endParaRPr lang="en-US" sz="1000" dirty="0"/>
          </a:p>
        </p:txBody>
      </p:sp>
      <p:sp>
        <p:nvSpPr>
          <p:cNvPr id="6" name="Text 4"/>
          <p:cNvSpPr/>
          <p:nvPr/>
        </p:nvSpPr>
        <p:spPr>
          <a:xfrm>
            <a:off x="457200" y="1481328"/>
            <a:ext cx="4754880" cy="1901952"/>
          </a:xfrm>
          <a:prstGeom prst="rect">
            <a:avLst/>
          </a:prstGeom>
          <a:noFill/>
          <a:ln/>
        </p:spPr>
        <p:txBody>
          <a:bodyPr wrap="square" lIns="0" tIns="0" rIns="0" bIns="0" rtlCol="0" anchor="ctr"/>
          <a:lstStyle/>
          <a:p>
            <a:pPr marL="0" indent="0">
              <a:buNone/>
            </a:pPr>
            <a:r>
              <a:rPr lang="en-US" sz="1150" dirty="0">
                <a:solidFill>
                  <a:srgbClr val="7DD3FC"/>
                </a:solidFill>
                <a:latin typeface="Courier New" pitchFamily="34" charset="0"/>
                <a:ea typeface="Courier New" pitchFamily="34" charset="-122"/>
                <a:cs typeface="Courier New" pitchFamily="34" charset="-120"/>
              </a:rPr>
              <a:t>keycloak</a:t>
            </a:r>
            <a:r>
              <a:rPr lang="en-US" sz="1150" dirty="0">
                <a:solidFill>
                  <a:srgbClr val="E2E8F0"/>
                </a:solidFill>
                <a:latin typeface="Courier New" pitchFamily="34" charset="0"/>
                <a:ea typeface="Courier New" pitchFamily="34" charset="-122"/>
                <a:cs typeface="Courier New" pitchFamily="34" charset="-120"/>
              </a:rPr>
              <a:t>.init({</a:t>
            </a:r>
            <a:endParaRPr lang="en-US" sz="1150" dirty="0"/>
          </a:p>
          <a:p>
            <a:pPr marL="0" indent="0">
              <a:buNone/>
            </a:pPr>
            <a:r>
              <a:rPr lang="en-US" sz="1150" dirty="0">
                <a:solidFill>
                  <a:srgbClr val="93C5FD"/>
                </a:solidFill>
                <a:latin typeface="Courier New" pitchFamily="34" charset="0"/>
                <a:ea typeface="Courier New" pitchFamily="34" charset="-122"/>
                <a:cs typeface="Courier New" pitchFamily="34" charset="-120"/>
              </a:rPr>
              <a:t>  onLoad</a:t>
            </a:r>
            <a:r>
              <a:rPr lang="en-US" sz="1150" dirty="0">
                <a:solidFill>
                  <a:srgbClr val="E2E8F0"/>
                </a:solidFill>
                <a:latin typeface="Courier New" pitchFamily="34" charset="0"/>
                <a:ea typeface="Courier New" pitchFamily="34" charset="-122"/>
                <a:cs typeface="Courier New" pitchFamily="34" charset="-120"/>
              </a:rPr>
              <a:t>:  </a:t>
            </a:r>
            <a:r>
              <a:rPr lang="en-US" sz="1150" dirty="0">
                <a:solidFill>
                  <a:srgbClr val="86EFAC"/>
                </a:solidFill>
                <a:latin typeface="Courier New" pitchFamily="34" charset="0"/>
                <a:ea typeface="Courier New" pitchFamily="34" charset="-122"/>
                <a:cs typeface="Courier New" pitchFamily="34" charset="-120"/>
              </a:rPr>
              <a:t>'check-sso'</a:t>
            </a:r>
            <a:endParaRPr lang="en-US" sz="1150" dirty="0"/>
          </a:p>
          <a:p>
            <a:pPr marL="0" indent="0">
              <a:buNone/>
            </a:pPr>
            <a:r>
              <a:rPr lang="en-US" sz="1150" dirty="0">
                <a:solidFill>
                  <a:srgbClr val="93C5FD"/>
                </a:solidFill>
                <a:latin typeface="Courier New" pitchFamily="34" charset="0"/>
                <a:ea typeface="Courier New" pitchFamily="34" charset="-122"/>
                <a:cs typeface="Courier New" pitchFamily="34" charset="-120"/>
              </a:rPr>
              <a:t>  silentCheckSsoRedirectUri</a:t>
            </a: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FCA5A5"/>
                </a:solidFill>
                <a:latin typeface="Courier New" pitchFamily="34" charset="0"/>
                <a:ea typeface="Courier New" pitchFamily="34" charset="-122"/>
                <a:cs typeface="Courier New" pitchFamily="34" charset="-120"/>
              </a:rPr>
              <a:t>    origin</a:t>
            </a:r>
            <a:r>
              <a:rPr lang="en-US" sz="1150" dirty="0">
                <a:solidFill>
                  <a:srgbClr val="E2E8F0"/>
                </a:solidFill>
                <a:latin typeface="Courier New" pitchFamily="34" charset="0"/>
                <a:ea typeface="Courier New" pitchFamily="34" charset="-122"/>
                <a:cs typeface="Courier New" pitchFamily="34" charset="-120"/>
              </a:rPr>
              <a:t> + </a:t>
            </a:r>
            <a:r>
              <a:rPr lang="en-US" sz="1150" dirty="0">
                <a:solidFill>
                  <a:srgbClr val="86EFAC"/>
                </a:solidFill>
                <a:latin typeface="Courier New" pitchFamily="34" charset="0"/>
                <a:ea typeface="Courier New" pitchFamily="34" charset="-122"/>
                <a:cs typeface="Courier New" pitchFamily="34" charset="-120"/>
              </a:rPr>
              <a:t>'/silent-check-sso.html'</a:t>
            </a:r>
            <a:endParaRPr lang="en-US" sz="1150" dirty="0"/>
          </a:p>
          <a:p>
            <a:pPr marL="0" indent="0">
              <a:buNone/>
            </a:pPr>
            <a:r>
              <a:rPr lang="en-US" sz="1150" dirty="0">
                <a:solidFill>
                  <a:srgbClr val="93C5FD"/>
                </a:solidFill>
                <a:latin typeface="Courier New" pitchFamily="34" charset="0"/>
                <a:ea typeface="Courier New" pitchFamily="34" charset="-122"/>
                <a:cs typeface="Courier New" pitchFamily="34" charset="-120"/>
              </a:rPr>
              <a:t>  pkceMethod</a:t>
            </a:r>
            <a:r>
              <a:rPr lang="en-US" sz="1150" dirty="0">
                <a:solidFill>
                  <a:srgbClr val="E2E8F0"/>
                </a:solidFill>
                <a:latin typeface="Courier New" pitchFamily="34" charset="0"/>
                <a:ea typeface="Courier New" pitchFamily="34" charset="-122"/>
                <a:cs typeface="Courier New" pitchFamily="34" charset="-120"/>
              </a:rPr>
              <a:t>: </a:t>
            </a:r>
            <a:r>
              <a:rPr lang="en-US" sz="1150" dirty="0">
                <a:solidFill>
                  <a:srgbClr val="86EFAC"/>
                </a:solidFill>
                <a:latin typeface="Courier New" pitchFamily="34" charset="0"/>
                <a:ea typeface="Courier New" pitchFamily="34" charset="-122"/>
                <a:cs typeface="Courier New" pitchFamily="34" charset="-120"/>
              </a:rPr>
              <a:t>'S256'</a:t>
            </a:r>
            <a:endParaRPr lang="en-US" sz="1150" dirty="0"/>
          </a:p>
          <a:p>
            <a:pPr marL="0" indent="0">
              <a:buNone/>
            </a:pPr>
            <a:r>
              <a:rPr lang="en-US" sz="1150" dirty="0">
                <a:solidFill>
                  <a:srgbClr val="93C5FD"/>
                </a:solidFill>
                <a:latin typeface="Courier New" pitchFamily="34" charset="0"/>
                <a:ea typeface="Courier New" pitchFamily="34" charset="-122"/>
                <a:cs typeface="Courier New" pitchFamily="34" charset="-120"/>
              </a:rPr>
              <a:t>  checkLoginIframe</a:t>
            </a:r>
            <a:r>
              <a:rPr lang="en-US" sz="1150" dirty="0">
                <a:solidFill>
                  <a:srgbClr val="E2E8F0"/>
                </a:solidFill>
                <a:latin typeface="Courier New" pitchFamily="34" charset="0"/>
                <a:ea typeface="Courier New" pitchFamily="34" charset="-122"/>
                <a:cs typeface="Courier New" pitchFamily="34" charset="-120"/>
              </a:rPr>
              <a:t>: </a:t>
            </a:r>
            <a:r>
              <a:rPr lang="en-US" sz="1150" dirty="0">
                <a:solidFill>
                  <a:srgbClr val="F87171"/>
                </a:solidFill>
                <a:latin typeface="Courier New" pitchFamily="34" charset="0"/>
                <a:ea typeface="Courier New" pitchFamily="34" charset="-122"/>
                <a:cs typeface="Courier New" pitchFamily="34" charset="-120"/>
              </a:rPr>
              <a:t>false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5532120" y="1078992"/>
            <a:ext cx="3291840" cy="859536"/>
          </a:xfrm>
          <a:prstGeom prst="roundRect">
            <a:avLst>
              <a:gd name="adj" fmla="val 8511"/>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8" name="Text 6"/>
          <p:cNvSpPr/>
          <p:nvPr/>
        </p:nvSpPr>
        <p:spPr>
          <a:xfrm>
            <a:off x="5669280" y="1143000"/>
            <a:ext cx="3017520" cy="274320"/>
          </a:xfrm>
          <a:prstGeom prst="rect">
            <a:avLst/>
          </a:prstGeom>
          <a:noFill/>
          <a:ln/>
        </p:spPr>
        <p:txBody>
          <a:bodyPr wrap="square" lIns="0" tIns="0" rIns="0" bIns="0" rtlCol="0" anchor="ctr"/>
          <a:lstStyle/>
          <a:p>
            <a:pPr marL="0" indent="0">
              <a:buNone/>
            </a:pPr>
            <a:r>
              <a:rPr lang="en-US" sz="1100" b="1" dirty="0">
                <a:solidFill>
                  <a:srgbClr val="1B2B4B"/>
                </a:solidFill>
                <a:latin typeface="Courier New" pitchFamily="34" charset="0"/>
                <a:ea typeface="Courier New" pitchFamily="34" charset="-122"/>
                <a:cs typeface="Courier New" pitchFamily="34" charset="-120"/>
              </a:rPr>
              <a:t>check-sso</a:t>
            </a:r>
            <a:endParaRPr lang="en-US" sz="1100" dirty="0"/>
          </a:p>
        </p:txBody>
      </p:sp>
      <p:sp>
        <p:nvSpPr>
          <p:cNvPr id="9" name="Text 7"/>
          <p:cNvSpPr/>
          <p:nvPr/>
        </p:nvSpPr>
        <p:spPr>
          <a:xfrm>
            <a:off x="5669280" y="1444752"/>
            <a:ext cx="3017520" cy="402336"/>
          </a:xfrm>
          <a:prstGeom prst="rect">
            <a:avLst/>
          </a:prstGeom>
          <a:noFill/>
          <a:ln/>
        </p:spPr>
        <p:txBody>
          <a:bodyPr wrap="square" lIns="0" tIns="0" rIns="0" bIns="0" rtlCol="0" anchor="ctr"/>
          <a:lstStyle/>
          <a:p>
            <a:pPr marL="0" indent="0">
              <a:buNone/>
            </a:pPr>
            <a:r>
              <a:rPr lang="en-US" sz="950" dirty="0">
                <a:solidFill>
                  <a:srgbClr val="475569"/>
                </a:solidFill>
              </a:rPr>
              <a:t>No fuerza login. Detecta sesión sin interrumpir al usuario.</a:t>
            </a:r>
            <a:endParaRPr lang="en-US" sz="950" dirty="0"/>
          </a:p>
        </p:txBody>
      </p:sp>
      <p:sp>
        <p:nvSpPr>
          <p:cNvPr id="10" name="Shape 8"/>
          <p:cNvSpPr/>
          <p:nvPr/>
        </p:nvSpPr>
        <p:spPr>
          <a:xfrm>
            <a:off x="5532120" y="2029968"/>
            <a:ext cx="3291840" cy="859536"/>
          </a:xfrm>
          <a:prstGeom prst="roundRect">
            <a:avLst>
              <a:gd name="adj" fmla="val 8511"/>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11" name="Text 9"/>
          <p:cNvSpPr/>
          <p:nvPr/>
        </p:nvSpPr>
        <p:spPr>
          <a:xfrm>
            <a:off x="5669280" y="2093976"/>
            <a:ext cx="3017520" cy="274320"/>
          </a:xfrm>
          <a:prstGeom prst="rect">
            <a:avLst/>
          </a:prstGeom>
          <a:noFill/>
          <a:ln/>
        </p:spPr>
        <p:txBody>
          <a:bodyPr wrap="square" lIns="0" tIns="0" rIns="0" bIns="0" rtlCol="0" anchor="ctr"/>
          <a:lstStyle/>
          <a:p>
            <a:pPr marL="0" indent="0">
              <a:buNone/>
            </a:pPr>
            <a:r>
              <a:rPr lang="en-US" sz="1100" b="1" dirty="0">
                <a:solidFill>
                  <a:srgbClr val="1B2B4B"/>
                </a:solidFill>
                <a:latin typeface="Courier New" pitchFamily="34" charset="0"/>
                <a:ea typeface="Courier New" pitchFamily="34" charset="-122"/>
                <a:cs typeface="Courier New" pitchFamily="34" charset="-120"/>
              </a:rPr>
              <a:t>silent-check-sso.html</a:t>
            </a:r>
            <a:endParaRPr lang="en-US" sz="1100" dirty="0"/>
          </a:p>
        </p:txBody>
      </p:sp>
      <p:sp>
        <p:nvSpPr>
          <p:cNvPr id="12" name="Text 10"/>
          <p:cNvSpPr/>
          <p:nvPr/>
        </p:nvSpPr>
        <p:spPr>
          <a:xfrm>
            <a:off x="5669280" y="2395728"/>
            <a:ext cx="3017520" cy="402336"/>
          </a:xfrm>
          <a:prstGeom prst="rect">
            <a:avLst/>
          </a:prstGeom>
          <a:noFill/>
          <a:ln/>
        </p:spPr>
        <p:txBody>
          <a:bodyPr wrap="square" lIns="0" tIns="0" rIns="0" bIns="0" rtlCol="0" anchor="ctr"/>
          <a:lstStyle/>
          <a:p>
            <a:pPr marL="0" indent="0">
              <a:buNone/>
            </a:pPr>
            <a:r>
              <a:rPr lang="en-US" sz="950" dirty="0">
                <a:solidFill>
                  <a:srgbClr val="475569"/>
                </a:solidFill>
              </a:rPr>
              <a:t>Archivo en /public. Permite la verificación via iframe oculto hacia Keycloak.</a:t>
            </a:r>
            <a:endParaRPr lang="en-US" sz="950" dirty="0"/>
          </a:p>
        </p:txBody>
      </p:sp>
      <p:sp>
        <p:nvSpPr>
          <p:cNvPr id="13" name="Shape 11"/>
          <p:cNvSpPr/>
          <p:nvPr/>
        </p:nvSpPr>
        <p:spPr>
          <a:xfrm>
            <a:off x="5532120" y="2980944"/>
            <a:ext cx="3291840" cy="859536"/>
          </a:xfrm>
          <a:prstGeom prst="roundRect">
            <a:avLst>
              <a:gd name="adj" fmla="val 8511"/>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14" name="Text 12"/>
          <p:cNvSpPr/>
          <p:nvPr/>
        </p:nvSpPr>
        <p:spPr>
          <a:xfrm>
            <a:off x="5669280" y="3044952"/>
            <a:ext cx="3017520" cy="274320"/>
          </a:xfrm>
          <a:prstGeom prst="rect">
            <a:avLst/>
          </a:prstGeom>
          <a:noFill/>
          <a:ln/>
        </p:spPr>
        <p:txBody>
          <a:bodyPr wrap="square" lIns="0" tIns="0" rIns="0" bIns="0" rtlCol="0" anchor="ctr"/>
          <a:lstStyle/>
          <a:p>
            <a:pPr marL="0" indent="0">
              <a:buNone/>
            </a:pPr>
            <a:r>
              <a:rPr lang="en-US" sz="1100" b="1" dirty="0">
                <a:solidFill>
                  <a:srgbClr val="1B2B4B"/>
                </a:solidFill>
                <a:latin typeface="Courier New" pitchFamily="34" charset="0"/>
                <a:ea typeface="Courier New" pitchFamily="34" charset="-122"/>
                <a:cs typeface="Courier New" pitchFamily="34" charset="-120"/>
              </a:rPr>
              <a:t>pkceMethod: S256</a:t>
            </a:r>
            <a:endParaRPr lang="en-US" sz="1100" dirty="0"/>
          </a:p>
        </p:txBody>
      </p:sp>
      <p:sp>
        <p:nvSpPr>
          <p:cNvPr id="15" name="Text 13"/>
          <p:cNvSpPr/>
          <p:nvPr/>
        </p:nvSpPr>
        <p:spPr>
          <a:xfrm>
            <a:off x="5669280" y="3346704"/>
            <a:ext cx="3017520" cy="402336"/>
          </a:xfrm>
          <a:prstGeom prst="rect">
            <a:avLst/>
          </a:prstGeom>
          <a:noFill/>
          <a:ln/>
        </p:spPr>
        <p:txBody>
          <a:bodyPr wrap="square" lIns="0" tIns="0" rIns="0" bIns="0" rtlCol="0" anchor="ctr"/>
          <a:lstStyle/>
          <a:p>
            <a:pPr marL="0" indent="0">
              <a:buNone/>
            </a:pPr>
            <a:r>
              <a:rPr lang="en-US" sz="950" dirty="0">
                <a:solidFill>
                  <a:srgbClr val="475569"/>
                </a:solidFill>
              </a:rPr>
              <a:t>Prueba de clave para SPAs públicas. No requiere client_secret.</a:t>
            </a:r>
            <a:endParaRPr lang="en-US" sz="950" dirty="0"/>
          </a:p>
        </p:txBody>
      </p:sp>
      <p:sp>
        <p:nvSpPr>
          <p:cNvPr id="16" name="Shape 14"/>
          <p:cNvSpPr/>
          <p:nvPr/>
        </p:nvSpPr>
        <p:spPr>
          <a:xfrm>
            <a:off x="5532120" y="3931920"/>
            <a:ext cx="3291840" cy="859536"/>
          </a:xfrm>
          <a:prstGeom prst="roundRect">
            <a:avLst>
              <a:gd name="adj" fmla="val 8511"/>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17" name="Text 15"/>
          <p:cNvSpPr/>
          <p:nvPr/>
        </p:nvSpPr>
        <p:spPr>
          <a:xfrm>
            <a:off x="5669280" y="3995928"/>
            <a:ext cx="3017520" cy="274320"/>
          </a:xfrm>
          <a:prstGeom prst="rect">
            <a:avLst/>
          </a:prstGeom>
          <a:noFill/>
          <a:ln/>
        </p:spPr>
        <p:txBody>
          <a:bodyPr wrap="square" lIns="0" tIns="0" rIns="0" bIns="0" rtlCol="0" anchor="ctr"/>
          <a:lstStyle/>
          <a:p>
            <a:pPr marL="0" indent="0">
              <a:buNone/>
            </a:pPr>
            <a:r>
              <a:rPr lang="en-US" sz="1100" b="1" dirty="0">
                <a:solidFill>
                  <a:srgbClr val="1B2B4B"/>
                </a:solidFill>
                <a:latin typeface="Courier New" pitchFamily="34" charset="0"/>
                <a:ea typeface="Courier New" pitchFamily="34" charset="-122"/>
                <a:cs typeface="Courier New" pitchFamily="34" charset="-120"/>
              </a:rPr>
              <a:t>checkLoginIframe:false</a:t>
            </a:r>
            <a:endParaRPr lang="en-US" sz="1100" dirty="0"/>
          </a:p>
        </p:txBody>
      </p:sp>
      <p:sp>
        <p:nvSpPr>
          <p:cNvPr id="18" name="Text 16"/>
          <p:cNvSpPr/>
          <p:nvPr/>
        </p:nvSpPr>
        <p:spPr>
          <a:xfrm>
            <a:off x="5669280" y="4297680"/>
            <a:ext cx="3017520" cy="402336"/>
          </a:xfrm>
          <a:prstGeom prst="rect">
            <a:avLst/>
          </a:prstGeom>
          <a:noFill/>
          <a:ln/>
        </p:spPr>
        <p:txBody>
          <a:bodyPr wrap="square" lIns="0" tIns="0" rIns="0" bIns="0" rtlCol="0" anchor="ctr"/>
          <a:lstStyle/>
          <a:p>
            <a:pPr marL="0" indent="0">
              <a:buNone/>
            </a:pPr>
            <a:r>
              <a:rPr lang="en-US" sz="950" dirty="0">
                <a:solidFill>
                  <a:srgbClr val="475569"/>
                </a:solidFill>
              </a:rPr>
              <a:t>Desactiva el iframe DEPRECADO de Keycloak que generaba errores 403 con cookies SameSite.</a:t>
            </a:r>
            <a:endParaRPr lang="en-US" sz="950" dirty="0"/>
          </a:p>
        </p:txBody>
      </p:sp>
      <p:sp>
        <p:nvSpPr>
          <p:cNvPr id="19" name="Shape 17"/>
          <p:cNvSpPr/>
          <p:nvPr/>
        </p:nvSpPr>
        <p:spPr>
          <a:xfrm>
            <a:off x="320040" y="3584448"/>
            <a:ext cx="5029200" cy="1417320"/>
          </a:xfrm>
          <a:prstGeom prst="roundRect">
            <a:avLst>
              <a:gd name="adj" fmla="val 6452"/>
            </a:avLst>
          </a:prstGeom>
          <a:solidFill>
            <a:srgbClr val="F8FAFC"/>
          </a:solidFill>
          <a:ln/>
          <a:effectLst>
            <a:outerShdw blurRad="101600" dist="25400" dir="2700000" algn="bl" rotWithShape="0">
              <a:srgbClr val="1E293B">
                <a:alpha val="10000"/>
              </a:srgbClr>
            </a:outerShdw>
          </a:effectLst>
        </p:spPr>
        <p:txBody>
          <a:bodyPr/>
          <a:lstStyle/>
          <a:p>
            <a:endParaRPr lang="en-US"/>
          </a:p>
        </p:txBody>
      </p:sp>
      <p:sp>
        <p:nvSpPr>
          <p:cNvPr id="20" name="Text 18"/>
          <p:cNvSpPr/>
          <p:nvPr/>
        </p:nvSpPr>
        <p:spPr>
          <a:xfrm>
            <a:off x="457200" y="3657600"/>
            <a:ext cx="4754880" cy="274320"/>
          </a:xfrm>
          <a:prstGeom prst="rect">
            <a:avLst/>
          </a:prstGeom>
          <a:noFill/>
          <a:ln/>
        </p:spPr>
        <p:txBody>
          <a:bodyPr wrap="square" lIns="0" tIns="0" rIns="0" bIns="0" rtlCol="0" anchor="ctr"/>
          <a:lstStyle/>
          <a:p>
            <a:pPr marL="0" indent="0">
              <a:buNone/>
            </a:pPr>
            <a:r>
              <a:rPr lang="en-US" sz="1100" b="1" dirty="0">
                <a:solidFill>
                  <a:srgbClr val="1E293B"/>
                </a:solidFill>
              </a:rPr>
              <a:t>Cambios adicionales en RefugioHuellas React:</a:t>
            </a:r>
            <a:endParaRPr lang="en-US" sz="1100" dirty="0"/>
          </a:p>
        </p:txBody>
      </p:sp>
      <p:sp>
        <p:nvSpPr>
          <p:cNvPr id="21" name="Text 19"/>
          <p:cNvSpPr/>
          <p:nvPr/>
        </p:nvSpPr>
        <p:spPr>
          <a:xfrm>
            <a:off x="457200" y="3950208"/>
            <a:ext cx="4754880" cy="987552"/>
          </a:xfrm>
          <a:prstGeom prst="rect">
            <a:avLst/>
          </a:prstGeom>
          <a:noFill/>
          <a:ln/>
        </p:spPr>
        <p:txBody>
          <a:bodyPr wrap="square" rtlCol="0" anchor="ctr"/>
          <a:lstStyle/>
          <a:p>
            <a:pPr marL="342900" indent="-342900">
              <a:buSzPct val="100000"/>
              <a:buChar char="•"/>
            </a:pPr>
            <a:r>
              <a:rPr lang="en-US" sz="1000" dirty="0">
                <a:solidFill>
                  <a:srgbClr val="1E293B"/>
                </a:solidFill>
              </a:rPr>
              <a:t>AuthContext.jsx: redirectUri usa import.meta.env.BASE_URL (/app/)</a:t>
            </a:r>
            <a:endParaRPr lang="en-US" sz="1000" dirty="0"/>
          </a:p>
          <a:p>
            <a:pPr marL="342900" indent="-342900">
              <a:buSzPct val="100000"/>
              <a:buChar char="•"/>
            </a:pPr>
            <a:r>
              <a:rPr lang="en-US" sz="1000" dirty="0">
                <a:solidFill>
                  <a:srgbClr val="1E293B"/>
                </a:solidFill>
              </a:rPr>
              <a:t>vite.config.js: middleware /app → /app/ (Keycloak elimina el slash final)</a:t>
            </a:r>
            <a:endParaRPr lang="en-US" sz="1000" dirty="0"/>
          </a:p>
          <a:p>
            <a:pPr marL="342900" indent="-342900">
              <a:buSzPct val="100000"/>
              <a:buChar char="•"/>
            </a:pPr>
            <a:r>
              <a:rPr lang="en-US" sz="1000" dirty="0">
                <a:solidFill>
                  <a:srgbClr val="1E293B"/>
                </a:solidFill>
              </a:rPr>
              <a:t>api/client.js: resolvePhotoUrl() prefija rutas relativas con URL del API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400" b="1" dirty="0">
                <a:solidFill>
                  <a:srgbClr val="FFFFFF"/>
                </a:solidFill>
              </a:rPr>
              <a:t>Backend: ASP.NET Core (RefugioHuellas)</a:t>
            </a:r>
            <a:endParaRPr lang="en-US" sz="2400" dirty="0"/>
          </a:p>
        </p:txBody>
      </p:sp>
      <p:sp>
        <p:nvSpPr>
          <p:cNvPr id="4" name="Shape 2"/>
          <p:cNvSpPr/>
          <p:nvPr/>
        </p:nvSpPr>
        <p:spPr>
          <a:xfrm>
            <a:off x="274320" y="1078992"/>
            <a:ext cx="4297680" cy="3703320"/>
          </a:xfrm>
          <a:prstGeom prst="roundRect">
            <a:avLst>
              <a:gd name="adj" fmla="val 2963"/>
            </a:avLst>
          </a:prstGeom>
          <a:solidFill>
            <a:srgbClr val="FFF7ED"/>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438912" y="1188720"/>
            <a:ext cx="3968496" cy="384048"/>
          </a:xfrm>
          <a:prstGeom prst="rect">
            <a:avLst/>
          </a:prstGeom>
          <a:noFill/>
          <a:ln/>
        </p:spPr>
        <p:txBody>
          <a:bodyPr wrap="square" lIns="0" tIns="0" rIns="0" bIns="0" rtlCol="0" anchor="ctr"/>
          <a:lstStyle/>
          <a:p>
            <a:pPr marL="0" indent="0">
              <a:buNone/>
            </a:pPr>
            <a:r>
              <a:rPr lang="en-US" sz="1300" b="1" dirty="0">
                <a:solidFill>
                  <a:srgbClr val="D97706"/>
                </a:solidFill>
              </a:rPr>
              <a:t>Modo MVC — OpenIdConnect</a:t>
            </a:r>
            <a:endParaRPr lang="en-US" sz="1300" dirty="0"/>
          </a:p>
        </p:txBody>
      </p:sp>
      <p:sp>
        <p:nvSpPr>
          <p:cNvPr id="6" name="Text 4"/>
          <p:cNvSpPr/>
          <p:nvPr/>
        </p:nvSpPr>
        <p:spPr>
          <a:xfrm>
            <a:off x="438912" y="1627632"/>
            <a:ext cx="3968496" cy="2971800"/>
          </a:xfrm>
          <a:prstGeom prst="rect">
            <a:avLst/>
          </a:prstGeom>
          <a:noFill/>
          <a:ln/>
        </p:spPr>
        <p:txBody>
          <a:bodyPr wrap="square" rtlCol="0" anchor="ctr"/>
          <a:lstStyle/>
          <a:p>
            <a:pPr marL="342900" indent="-342900">
              <a:buSzPct val="100000"/>
              <a:buChar char="•"/>
            </a:pPr>
            <a:r>
              <a:rPr lang="en-US" sz="1200" dirty="0">
                <a:solidFill>
                  <a:srgbClr val="1E293B"/>
                </a:solidFill>
              </a:rPr>
              <a:t>Middleware AddOpenIdConnect redirige a Keycloak</a:t>
            </a:r>
            <a:endParaRPr lang="en-US" sz="1200" dirty="0"/>
          </a:p>
          <a:p>
            <a:pPr marL="342900" indent="-342900">
              <a:buSzPct val="100000"/>
              <a:buChar char="•"/>
            </a:pPr>
            <a:r>
              <a:rPr lang="en-US" sz="1200" dirty="0">
                <a:solidFill>
                  <a:srgbClr val="1E293B"/>
                </a:solidFill>
              </a:rPr>
              <a:t>Keycloak devuelve authorization code</a:t>
            </a:r>
            <a:endParaRPr lang="en-US" sz="1200" dirty="0"/>
          </a:p>
          <a:p>
            <a:pPr marL="342900" indent="-342900">
              <a:buSzPct val="100000"/>
              <a:buChar char="•"/>
            </a:pPr>
            <a:r>
              <a:rPr lang="en-US" sz="1200" dirty="0">
                <a:solidFill>
                  <a:srgbClr val="1E293B"/>
                </a:solidFill>
              </a:rPr>
              <a:t>ASP.NET intercambia code por token</a:t>
            </a:r>
            <a:endParaRPr lang="en-US" sz="1200" dirty="0"/>
          </a:p>
          <a:p>
            <a:pPr marL="342900" indent="-342900">
              <a:buSzPct val="100000"/>
              <a:buChar char="•"/>
            </a:pPr>
            <a:r>
              <a:rPr lang="en-US" sz="1200" dirty="0">
                <a:solidFill>
                  <a:srgbClr val="1E293B"/>
                </a:solidFill>
              </a:rPr>
              <a:t>Sesión guardada en cookie cifrada (.AspNetCore.Cookies)</a:t>
            </a:r>
            <a:endParaRPr lang="en-US" sz="1200" dirty="0"/>
          </a:p>
          <a:p>
            <a:pPr marL="342900" indent="-342900">
              <a:buSzPct val="100000"/>
              <a:buChar char="•"/>
            </a:pPr>
            <a:r>
              <a:rPr lang="en-US" sz="1200" dirty="0">
                <a:solidFill>
                  <a:srgbClr val="1E293B"/>
                </a:solidFill>
              </a:rPr>
              <a:t>Cliente Keycloak: refugiohuellas (confidencial, con secret)</a:t>
            </a:r>
            <a:endParaRPr lang="en-US" sz="1200" dirty="0"/>
          </a:p>
        </p:txBody>
      </p:sp>
      <p:sp>
        <p:nvSpPr>
          <p:cNvPr id="7" name="Shape 5"/>
          <p:cNvSpPr/>
          <p:nvPr/>
        </p:nvSpPr>
        <p:spPr>
          <a:xfrm>
            <a:off x="4800600" y="1078992"/>
            <a:ext cx="4297680" cy="3703320"/>
          </a:xfrm>
          <a:prstGeom prst="roundRect">
            <a:avLst>
              <a:gd name="adj" fmla="val 2963"/>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8" name="Text 6"/>
          <p:cNvSpPr/>
          <p:nvPr/>
        </p:nvSpPr>
        <p:spPr>
          <a:xfrm>
            <a:off x="4965192" y="1188720"/>
            <a:ext cx="3968496" cy="384048"/>
          </a:xfrm>
          <a:prstGeom prst="rect">
            <a:avLst/>
          </a:prstGeom>
          <a:noFill/>
          <a:ln/>
        </p:spPr>
        <p:txBody>
          <a:bodyPr wrap="square" lIns="0" tIns="0" rIns="0" bIns="0" rtlCol="0" anchor="ctr"/>
          <a:lstStyle/>
          <a:p>
            <a:pPr marL="0" indent="0">
              <a:buNone/>
            </a:pPr>
            <a:r>
              <a:rPr lang="en-US" sz="1300" b="1" dirty="0">
                <a:solidFill>
                  <a:srgbClr val="0891B2"/>
                </a:solidFill>
              </a:rPr>
              <a:t>Modo API — JwtBearer</a:t>
            </a:r>
            <a:endParaRPr lang="en-US" sz="1300" dirty="0"/>
          </a:p>
        </p:txBody>
      </p:sp>
      <p:sp>
        <p:nvSpPr>
          <p:cNvPr id="9" name="Text 7"/>
          <p:cNvSpPr/>
          <p:nvPr/>
        </p:nvSpPr>
        <p:spPr>
          <a:xfrm>
            <a:off x="4965192" y="1627632"/>
            <a:ext cx="3968496" cy="2971800"/>
          </a:xfrm>
          <a:prstGeom prst="rect">
            <a:avLst/>
          </a:prstGeom>
          <a:noFill/>
          <a:ln/>
        </p:spPr>
        <p:txBody>
          <a:bodyPr wrap="square" rtlCol="0" anchor="ctr"/>
          <a:lstStyle/>
          <a:p>
            <a:pPr marL="342900" indent="-342900">
              <a:buSzPct val="100000"/>
              <a:buChar char="•"/>
            </a:pPr>
            <a:r>
              <a:rPr lang="en-US" sz="1200" dirty="0">
                <a:solidFill>
                  <a:srgbClr val="1E293B"/>
                </a:solidFill>
              </a:rPr>
              <a:t>React SPA envía token en header:</a:t>
            </a:r>
            <a:endParaRPr lang="en-US" sz="1200" dirty="0"/>
          </a:p>
          <a:p>
            <a:pPr marL="0" indent="0">
              <a:buNone/>
            </a:pPr>
            <a:r>
              <a:rPr lang="en-US" sz="1200" dirty="0">
                <a:solidFill>
                  <a:srgbClr val="1E293B"/>
                </a:solidFill>
              </a:rPr>
              <a:t>  Authorization: Bearer &lt;token_keycloak&gt;</a:t>
            </a:r>
            <a:endParaRPr lang="en-US" sz="1200" dirty="0"/>
          </a:p>
          <a:p>
            <a:pPr marL="342900" indent="-342900">
              <a:buSzPct val="100000"/>
              <a:buChar char="•"/>
            </a:pPr>
            <a:r>
              <a:rPr lang="en-US" sz="1200" dirty="0">
                <a:solidFill>
                  <a:srgbClr val="1E293B"/>
                </a:solidFill>
              </a:rPr>
              <a:t>ASP.NET valida la firma RS256 usando JWKS</a:t>
            </a:r>
            <a:endParaRPr lang="en-US" sz="1200" dirty="0"/>
          </a:p>
          <a:p>
            <a:pPr marL="342900" indent="-342900">
              <a:buSzPct val="100000"/>
              <a:buChar char="•"/>
            </a:pPr>
            <a:r>
              <a:rPr lang="en-US" sz="1200" dirty="0">
                <a:solidFill>
                  <a:srgbClr val="1E293B"/>
                </a:solidFill>
              </a:rPr>
              <a:t>OnTokenValidated: auto-crea usuario local por email</a:t>
            </a:r>
            <a:endParaRPr lang="en-US" sz="1200" dirty="0"/>
          </a:p>
          <a:p>
            <a:pPr marL="342900" indent="-342900">
              <a:buSzPct val="100000"/>
              <a:buChar char="•"/>
            </a:pPr>
            <a:r>
              <a:rPr lang="en-US" sz="1200" dirty="0">
                <a:solidFill>
                  <a:srgbClr val="1E293B"/>
                </a:solidFill>
              </a:rPr>
              <a:t>Cliente Keycloak: refugiohuellas-react (público PKCE)</a:t>
            </a:r>
            <a:endParaRPr lang="en-US" sz="1200" dirty="0"/>
          </a:p>
        </p:txBody>
      </p:sp>
      <p:sp>
        <p:nvSpPr>
          <p:cNvPr id="10" name="Shape 8"/>
          <p:cNvSpPr/>
          <p:nvPr/>
        </p:nvSpPr>
        <p:spPr>
          <a:xfrm>
            <a:off x="274320" y="4828032"/>
            <a:ext cx="8595360" cy="256032"/>
          </a:xfrm>
          <a:prstGeom prst="roundRect">
            <a:avLst>
              <a:gd name="adj" fmla="val 25000"/>
            </a:avLst>
          </a:prstGeom>
          <a:solidFill>
            <a:srgbClr val="FEF9C3"/>
          </a:solidFill>
          <a:ln/>
        </p:spPr>
        <p:txBody>
          <a:bodyPr/>
          <a:lstStyle/>
          <a:p>
            <a:endParaRPr lang="en-US"/>
          </a:p>
        </p:txBody>
      </p:sp>
      <p:sp>
        <p:nvSpPr>
          <p:cNvPr id="11" name="Text 9"/>
          <p:cNvSpPr/>
          <p:nvPr/>
        </p:nvSpPr>
        <p:spPr>
          <a:xfrm>
            <a:off x="365760" y="4846320"/>
            <a:ext cx="8412480" cy="219456"/>
          </a:xfrm>
          <a:prstGeom prst="rect">
            <a:avLst/>
          </a:prstGeom>
          <a:noFill/>
          <a:ln/>
        </p:spPr>
        <p:txBody>
          <a:bodyPr wrap="square" lIns="0" tIns="0" rIns="0" bIns="0" rtlCol="0" anchor="ctr"/>
          <a:lstStyle/>
          <a:p>
            <a:pPr marL="0" indent="0" algn="ctr">
              <a:buNone/>
            </a:pPr>
            <a:r>
              <a:rPr lang="en-US" sz="1000" b="1" dirty="0">
                <a:solidFill>
                  <a:srgbClr val="92400E"/>
                </a:solidFill>
              </a:rPr>
              <a:t>Fix clave: AddIdentityCore no registra SignInManager → AuthApiController migrado a CheckPasswordAsync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400" b="1" dirty="0">
                <a:solidFill>
                  <a:srgbClr val="FFFFFF"/>
                </a:solidFill>
              </a:rPr>
              <a:t>Backend: NestJS (ProyectoWeb)</a:t>
            </a:r>
            <a:endParaRPr lang="en-US" sz="2400" dirty="0"/>
          </a:p>
        </p:txBody>
      </p:sp>
      <p:sp>
        <p:nvSpPr>
          <p:cNvPr id="4" name="Shape 2"/>
          <p:cNvSpPr/>
          <p:nvPr/>
        </p:nvSpPr>
        <p:spPr>
          <a:xfrm>
            <a:off x="320040" y="1078992"/>
            <a:ext cx="4937760" cy="2606040"/>
          </a:xfrm>
          <a:prstGeom prst="roundRect">
            <a:avLst>
              <a:gd name="adj" fmla="val 3509"/>
            </a:avLst>
          </a:prstGeom>
          <a:solidFill>
            <a:srgbClr val="1E293B"/>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457200" y="1170432"/>
            <a:ext cx="4663440" cy="256032"/>
          </a:xfrm>
          <a:prstGeom prst="rect">
            <a:avLst/>
          </a:prstGeom>
          <a:noFill/>
          <a:ln/>
        </p:spPr>
        <p:txBody>
          <a:bodyPr wrap="square" lIns="0" tIns="0" rIns="0" bIns="0" rtlCol="0" anchor="ctr"/>
          <a:lstStyle/>
          <a:p>
            <a:pPr marL="0" indent="0">
              <a:buNone/>
            </a:pPr>
            <a:r>
              <a:rPr lang="en-US" sz="1000" dirty="0">
                <a:solidFill>
                  <a:srgbClr val="94A3B8"/>
                </a:solidFill>
              </a:rPr>
              <a:t>Validación RS256 vía JWKS (jwt-guard.ts)</a:t>
            </a:r>
            <a:endParaRPr lang="en-US" sz="1000" dirty="0"/>
          </a:p>
        </p:txBody>
      </p:sp>
      <p:sp>
        <p:nvSpPr>
          <p:cNvPr id="6" name="Text 4"/>
          <p:cNvSpPr/>
          <p:nvPr/>
        </p:nvSpPr>
        <p:spPr>
          <a:xfrm>
            <a:off x="457200" y="1463040"/>
            <a:ext cx="4663440" cy="2011680"/>
          </a:xfrm>
          <a:prstGeom prst="rect">
            <a:avLst/>
          </a:prstGeom>
          <a:noFill/>
          <a:ln/>
        </p:spPr>
        <p:txBody>
          <a:bodyPr wrap="square" lIns="0" tIns="0" rIns="0" bIns="0" rtlCol="0" anchor="ctr"/>
          <a:lstStyle/>
          <a:p>
            <a:pPr marL="0" indent="0">
              <a:buNone/>
            </a:pPr>
            <a:r>
              <a:rPr lang="en-US" sz="1100" dirty="0">
                <a:solidFill>
                  <a:srgbClr val="C084FC"/>
                </a:solidFill>
                <a:latin typeface="Courier New" pitchFamily="34" charset="0"/>
                <a:ea typeface="Courier New" pitchFamily="34" charset="-122"/>
                <a:cs typeface="Courier New" pitchFamily="34" charset="-120"/>
              </a:rPr>
              <a:t>const </a:t>
            </a:r>
            <a:r>
              <a:rPr lang="en-US" sz="1100" dirty="0">
                <a:solidFill>
                  <a:srgbClr val="FCA5A5"/>
                </a:solidFill>
                <a:latin typeface="Courier New" pitchFamily="34" charset="0"/>
                <a:ea typeface="Courier New" pitchFamily="34" charset="-122"/>
                <a:cs typeface="Courier New" pitchFamily="34" charset="-120"/>
              </a:rPr>
              <a:t>key</a:t>
            </a:r>
            <a:r>
              <a:rPr lang="en-US" sz="1100" dirty="0">
                <a:solidFill>
                  <a:srgbClr val="E2E8F0"/>
                </a:solidFill>
                <a:latin typeface="Courier New" pitchFamily="34" charset="0"/>
                <a:ea typeface="Courier New" pitchFamily="34" charset="-122"/>
                <a:cs typeface="Courier New" pitchFamily="34" charset="-120"/>
              </a:rPr>
              <a:t> = await </a:t>
            </a:r>
            <a:r>
              <a:rPr lang="en-US" sz="1100" dirty="0">
                <a:solidFill>
                  <a:srgbClr val="7DD3FC"/>
                </a:solidFill>
                <a:latin typeface="Courier New" pitchFamily="34" charset="0"/>
                <a:ea typeface="Courier New" pitchFamily="34" charset="-122"/>
                <a:cs typeface="Courier New" pitchFamily="34" charset="-120"/>
              </a:rPr>
              <a:t>jwksClient</a:t>
            </a:r>
            <a:r>
              <a:rPr lang="en-US" sz="1100" dirty="0">
                <a:solidFill>
                  <a:srgbClr val="E2E8F0"/>
                </a:solidFill>
                <a:latin typeface="Courier New" pitchFamily="34" charset="0"/>
                <a:ea typeface="Courier New" pitchFamily="34" charset="-122"/>
                <a:cs typeface="Courier New" pitchFamily="34" charset="-120"/>
              </a:rPr>
              <a:t>.getSigningKey(kid);
</a:t>
            </a:r>
            <a:r>
              <a:rPr lang="en-US" sz="1100" dirty="0">
                <a:solidFill>
                  <a:srgbClr val="475569"/>
                </a:solidFill>
                <a:latin typeface="Courier New" pitchFamily="34" charset="0"/>
                <a:ea typeface="Courier New" pitchFamily="34" charset="-122"/>
                <a:cs typeface="Courier New" pitchFamily="34" charset="-120"/>
              </a:rPr>
              <a:t>// clave pública del JWKS endpoint
</a:t>
            </a:r>
            <a:r>
              <a:rPr lang="en-US" sz="1100" dirty="0">
                <a:solidFill>
                  <a:srgbClr val="7DD3FC"/>
                </a:solidFill>
                <a:latin typeface="Courier New" pitchFamily="34" charset="0"/>
                <a:ea typeface="Courier New" pitchFamily="34" charset="-122"/>
                <a:cs typeface="Courier New" pitchFamily="34" charset="-120"/>
              </a:rPr>
              <a:t>jwt</a:t>
            </a:r>
            <a:r>
              <a:rPr lang="en-US" sz="1100" dirty="0">
                <a:solidFill>
                  <a:srgbClr val="E2E8F0"/>
                </a:solidFill>
                <a:latin typeface="Courier New" pitchFamily="34" charset="0"/>
                <a:ea typeface="Courier New" pitchFamily="34" charset="-122"/>
                <a:cs typeface="Courier New" pitchFamily="34" charset="-120"/>
              </a:rPr>
              <a:t>.verify(</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token,</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key.getPublicKey(),</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algorithms: [</a:t>
            </a:r>
            <a:endParaRPr lang="en-US" sz="1100" dirty="0"/>
          </a:p>
          <a:p>
            <a:pPr marL="0" indent="0">
              <a:buNone/>
            </a:pPr>
            <a:r>
              <a:rPr lang="en-US" sz="1100" dirty="0">
                <a:solidFill>
                  <a:srgbClr val="86EFAC"/>
                </a:solidFill>
                <a:latin typeface="Courier New" pitchFamily="34" charset="0"/>
                <a:ea typeface="Courier New" pitchFamily="34" charset="-122"/>
                <a:cs typeface="Courier New" pitchFamily="34" charset="-120"/>
              </a:rPr>
              <a:t>'RS256'</a:t>
            </a: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issuer: </a:t>
            </a:r>
            <a:endParaRPr lang="en-US" sz="1100" dirty="0"/>
          </a:p>
          <a:p>
            <a:pPr marL="0" indent="0">
              <a:buNone/>
            </a:pPr>
            <a:r>
              <a:rPr lang="en-US" sz="1100" dirty="0">
                <a:solidFill>
                  <a:srgbClr val="FCA5A5"/>
                </a:solidFill>
                <a:latin typeface="Courier New" pitchFamily="34" charset="0"/>
                <a:ea typeface="Courier New" pitchFamily="34" charset="-122"/>
                <a:cs typeface="Courier New" pitchFamily="34" charset="-120"/>
              </a:rPr>
              <a:t>KEYCLOAK_URL</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320040" y="3703320"/>
            <a:ext cx="4937760" cy="1051560"/>
          </a:xfrm>
          <a:prstGeom prst="roundRect">
            <a:avLst>
              <a:gd name="adj" fmla="val 8696"/>
            </a:avLst>
          </a:prstGeom>
          <a:solidFill>
            <a:srgbClr val="F0FDF4"/>
          </a:solidFill>
          <a:ln/>
          <a:effectLst>
            <a:outerShdw blurRad="101600" dist="25400" dir="2700000" algn="bl" rotWithShape="0">
              <a:srgbClr val="1E293B">
                <a:alpha val="10000"/>
              </a:srgbClr>
            </a:outerShdw>
          </a:effectLst>
        </p:spPr>
        <p:txBody>
          <a:bodyPr/>
          <a:lstStyle/>
          <a:p>
            <a:endParaRPr lang="en-US"/>
          </a:p>
        </p:txBody>
      </p:sp>
      <p:sp>
        <p:nvSpPr>
          <p:cNvPr id="8" name="Text 6"/>
          <p:cNvSpPr/>
          <p:nvPr/>
        </p:nvSpPr>
        <p:spPr>
          <a:xfrm>
            <a:off x="457200" y="3767328"/>
            <a:ext cx="4663440" cy="274320"/>
          </a:xfrm>
          <a:prstGeom prst="rect">
            <a:avLst/>
          </a:prstGeom>
          <a:noFill/>
          <a:ln/>
        </p:spPr>
        <p:txBody>
          <a:bodyPr wrap="square" lIns="0" tIns="0" rIns="0" bIns="0" rtlCol="0" anchor="ctr"/>
          <a:lstStyle/>
          <a:p>
            <a:pPr marL="0" indent="0">
              <a:buNone/>
            </a:pPr>
            <a:r>
              <a:rPr lang="en-US" sz="1200" b="1" dirty="0">
                <a:solidFill>
                  <a:srgbClr val="16A34A"/>
                </a:solidFill>
              </a:rPr>
              <a:t>TypeORM — Conexión Dual</a:t>
            </a:r>
            <a:endParaRPr lang="en-US" sz="1200" dirty="0"/>
          </a:p>
        </p:txBody>
      </p:sp>
      <p:sp>
        <p:nvSpPr>
          <p:cNvPr id="9" name="Text 7"/>
          <p:cNvSpPr/>
          <p:nvPr/>
        </p:nvSpPr>
        <p:spPr>
          <a:xfrm>
            <a:off x="457200" y="4059936"/>
            <a:ext cx="4663440" cy="594360"/>
          </a:xfrm>
          <a:prstGeom prst="rect">
            <a:avLst/>
          </a:prstGeom>
          <a:noFill/>
          <a:ln/>
        </p:spPr>
        <p:txBody>
          <a:bodyPr wrap="square" lIns="0" tIns="0" rIns="0" bIns="0" rtlCol="0" anchor="ctr"/>
          <a:lstStyle/>
          <a:p>
            <a:pPr marL="0" indent="0">
              <a:buNone/>
            </a:pPr>
            <a:r>
              <a:rPr lang="en-US" sz="1000" dirty="0">
                <a:solidFill>
                  <a:srgbClr val="1E293B"/>
                </a:solidFill>
                <a:latin typeface="Courier New" pitchFamily="34" charset="0"/>
                <a:ea typeface="Courier New" pitchFamily="34" charset="-122"/>
                <a:cs typeface="Courier New" pitchFamily="34" charset="-120"/>
              </a:rPr>
              <a:t>Con DATABASE_URL → PostgreSQL (Docker)</a:t>
            </a:r>
            <a:endParaRPr lang="en-US" sz="1000" dirty="0"/>
          </a:p>
          <a:p>
            <a:pPr marL="0" indent="0">
              <a:buNone/>
            </a:pPr>
            <a:r>
              <a:rPr lang="en-US" sz="1000" dirty="0">
                <a:solidFill>
                  <a:srgbClr val="1E293B"/>
                </a:solidFill>
                <a:latin typeface="Courier New" pitchFamily="34" charset="0"/>
                <a:ea typeface="Courier New" pitchFamily="34" charset="-122"/>
                <a:cs typeface="Courier New" pitchFamily="34" charset="-120"/>
              </a:rPr>
              <a:t>Sin DATABASE_URL → SQL Server (otros entornos)</a:t>
            </a:r>
            <a:endParaRPr lang="en-US" sz="1000" dirty="0"/>
          </a:p>
          <a:p>
            <a:pPr marL="0" indent="0">
              <a:buNone/>
            </a:pPr>
            <a:r>
              <a:rPr lang="en-US" sz="1000" dirty="0">
                <a:solidFill>
                  <a:srgbClr val="1E293B"/>
                </a:solidFill>
                <a:latin typeface="Courier New" pitchFamily="34" charset="0"/>
                <a:ea typeface="Courier New" pitchFamily="34" charset="-122"/>
                <a:cs typeface="Courier New" pitchFamily="34" charset="-120"/>
              </a:rPr>
              <a:t>ssl: isProd ? { rejectUnauthorized:false } : false</a:t>
            </a:r>
            <a:endParaRPr lang="en-US" sz="1000" dirty="0"/>
          </a:p>
        </p:txBody>
      </p:sp>
      <p:sp>
        <p:nvSpPr>
          <p:cNvPr id="10" name="Shape 8"/>
          <p:cNvSpPr/>
          <p:nvPr/>
        </p:nvSpPr>
        <p:spPr>
          <a:xfrm>
            <a:off x="5486400" y="1078992"/>
            <a:ext cx="3337560" cy="896112"/>
          </a:xfrm>
          <a:prstGeom prst="roundRect">
            <a:avLst>
              <a:gd name="adj" fmla="val 8163"/>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11" name="Text 9"/>
          <p:cNvSpPr/>
          <p:nvPr/>
        </p:nvSpPr>
        <p:spPr>
          <a:xfrm>
            <a:off x="5614416" y="1143000"/>
            <a:ext cx="3081528" cy="274320"/>
          </a:xfrm>
          <a:prstGeom prst="rect">
            <a:avLst/>
          </a:prstGeom>
          <a:noFill/>
          <a:ln/>
        </p:spPr>
        <p:txBody>
          <a:bodyPr wrap="square" lIns="0" tIns="0" rIns="0" bIns="0" rtlCol="0" anchor="ctr"/>
          <a:lstStyle/>
          <a:p>
            <a:pPr marL="0" indent="0">
              <a:buNone/>
            </a:pPr>
            <a:r>
              <a:rPr lang="en-US" sz="1100" b="1" dirty="0">
                <a:solidFill>
                  <a:srgbClr val="1B2B4B"/>
                </a:solidFill>
              </a:rPr>
              <a:t>Sin client_secret</a:t>
            </a:r>
            <a:endParaRPr lang="en-US" sz="1100" dirty="0"/>
          </a:p>
        </p:txBody>
      </p:sp>
      <p:sp>
        <p:nvSpPr>
          <p:cNvPr id="12" name="Text 10"/>
          <p:cNvSpPr/>
          <p:nvPr/>
        </p:nvSpPr>
        <p:spPr>
          <a:xfrm>
            <a:off x="5614416" y="1444752"/>
            <a:ext cx="3081528" cy="438912"/>
          </a:xfrm>
          <a:prstGeom prst="rect">
            <a:avLst/>
          </a:prstGeom>
          <a:noFill/>
          <a:ln/>
        </p:spPr>
        <p:txBody>
          <a:bodyPr wrap="square" lIns="0" tIns="0" rIns="0" bIns="0" rtlCol="0" anchor="ctr"/>
          <a:lstStyle/>
          <a:p>
            <a:pPr marL="0" indent="0">
              <a:buNone/>
            </a:pPr>
            <a:r>
              <a:rPr lang="en-US" sz="950" dirty="0">
                <a:solidFill>
                  <a:srgbClr val="475569"/>
                </a:solidFill>
              </a:rPr>
              <a:t>Los tokens son firmados por Keycloak (RS256). Solo se necesita la clave pública pública via JWKS.</a:t>
            </a:r>
            <a:endParaRPr lang="en-US" sz="950" dirty="0"/>
          </a:p>
        </p:txBody>
      </p:sp>
      <p:sp>
        <p:nvSpPr>
          <p:cNvPr id="13" name="Shape 11"/>
          <p:cNvSpPr/>
          <p:nvPr/>
        </p:nvSpPr>
        <p:spPr>
          <a:xfrm>
            <a:off x="5486400" y="2066544"/>
            <a:ext cx="3337560" cy="896112"/>
          </a:xfrm>
          <a:prstGeom prst="roundRect">
            <a:avLst>
              <a:gd name="adj" fmla="val 8163"/>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14" name="Text 12"/>
          <p:cNvSpPr/>
          <p:nvPr/>
        </p:nvSpPr>
        <p:spPr>
          <a:xfrm>
            <a:off x="5614416" y="2130552"/>
            <a:ext cx="3081528" cy="274320"/>
          </a:xfrm>
          <a:prstGeom prst="rect">
            <a:avLst/>
          </a:prstGeom>
          <a:noFill/>
          <a:ln/>
        </p:spPr>
        <p:txBody>
          <a:bodyPr wrap="square" lIns="0" tIns="0" rIns="0" bIns="0" rtlCol="0" anchor="ctr"/>
          <a:lstStyle/>
          <a:p>
            <a:pPr marL="0" indent="0">
              <a:buNone/>
            </a:pPr>
            <a:r>
              <a:rPr lang="en-US" sz="1100" b="1" dirty="0">
                <a:solidFill>
                  <a:srgbClr val="1B2B4B"/>
                </a:solidFill>
              </a:rPr>
              <a:t>JWKS Endpoint</a:t>
            </a:r>
            <a:endParaRPr lang="en-US" sz="1100" dirty="0"/>
          </a:p>
        </p:txBody>
      </p:sp>
      <p:sp>
        <p:nvSpPr>
          <p:cNvPr id="15" name="Text 13"/>
          <p:cNvSpPr/>
          <p:nvPr/>
        </p:nvSpPr>
        <p:spPr>
          <a:xfrm>
            <a:off x="5614416" y="2432304"/>
            <a:ext cx="3081528" cy="438912"/>
          </a:xfrm>
          <a:prstGeom prst="rect">
            <a:avLst/>
          </a:prstGeom>
          <a:noFill/>
          <a:ln/>
        </p:spPr>
        <p:txBody>
          <a:bodyPr wrap="square" lIns="0" tIns="0" rIns="0" bIns="0" rtlCol="0" anchor="ctr"/>
          <a:lstStyle/>
          <a:p>
            <a:pPr marL="0" indent="0">
              <a:buNone/>
            </a:pPr>
            <a:r>
              <a:rPr lang="en-US" sz="950" dirty="0">
                <a:solidFill>
                  <a:srgbClr val="475569"/>
                </a:solidFill>
              </a:rPr>
              <a:t>localhost:8080/realms/proyecto-dss/protocol/openid-connect/certs</a:t>
            </a:r>
            <a:endParaRPr lang="en-US" sz="950" dirty="0"/>
          </a:p>
        </p:txBody>
      </p:sp>
      <p:sp>
        <p:nvSpPr>
          <p:cNvPr id="16" name="Shape 14"/>
          <p:cNvSpPr/>
          <p:nvPr/>
        </p:nvSpPr>
        <p:spPr>
          <a:xfrm>
            <a:off x="5486400" y="3054096"/>
            <a:ext cx="3337560" cy="896112"/>
          </a:xfrm>
          <a:prstGeom prst="roundRect">
            <a:avLst>
              <a:gd name="adj" fmla="val 8163"/>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17" name="Text 15"/>
          <p:cNvSpPr/>
          <p:nvPr/>
        </p:nvSpPr>
        <p:spPr>
          <a:xfrm>
            <a:off x="5614416" y="3118104"/>
            <a:ext cx="3081528" cy="274320"/>
          </a:xfrm>
          <a:prstGeom prst="rect">
            <a:avLst/>
          </a:prstGeom>
          <a:noFill/>
          <a:ln/>
        </p:spPr>
        <p:txBody>
          <a:bodyPr wrap="square" lIns="0" tIns="0" rIns="0" bIns="0" rtlCol="0" anchor="ctr"/>
          <a:lstStyle/>
          <a:p>
            <a:pPr marL="0" indent="0">
              <a:buNone/>
            </a:pPr>
            <a:r>
              <a:rPr lang="en-US" sz="1100" b="1" dirty="0">
                <a:solidFill>
                  <a:srgbClr val="1B2B4B"/>
                </a:solidFill>
              </a:rPr>
              <a:t>Auto-provisioning</a:t>
            </a:r>
            <a:endParaRPr lang="en-US" sz="1100" dirty="0"/>
          </a:p>
        </p:txBody>
      </p:sp>
      <p:sp>
        <p:nvSpPr>
          <p:cNvPr id="18" name="Text 16"/>
          <p:cNvSpPr/>
          <p:nvPr/>
        </p:nvSpPr>
        <p:spPr>
          <a:xfrm>
            <a:off x="5614416" y="3419856"/>
            <a:ext cx="3081528" cy="438912"/>
          </a:xfrm>
          <a:prstGeom prst="rect">
            <a:avLst/>
          </a:prstGeom>
          <a:noFill/>
          <a:ln/>
        </p:spPr>
        <p:txBody>
          <a:bodyPr wrap="square" lIns="0" tIns="0" rIns="0" bIns="0" rtlCol="0" anchor="ctr"/>
          <a:lstStyle/>
          <a:p>
            <a:pPr marL="0" indent="0">
              <a:buNone/>
            </a:pPr>
            <a:r>
              <a:rPr lang="en-US" sz="950" dirty="0">
                <a:solidFill>
                  <a:srgbClr val="475569"/>
                </a:solidFill>
              </a:rPr>
              <a:t>Al recibir token válido, NestJS busca o crea el usuario local por email del claim.</a:t>
            </a:r>
            <a:endParaRPr lang="en-US" sz="950" dirty="0"/>
          </a:p>
        </p:txBody>
      </p:sp>
      <p:sp>
        <p:nvSpPr>
          <p:cNvPr id="19" name="Shape 17"/>
          <p:cNvSpPr/>
          <p:nvPr/>
        </p:nvSpPr>
        <p:spPr>
          <a:xfrm>
            <a:off x="5486400" y="4041648"/>
            <a:ext cx="3337560" cy="896112"/>
          </a:xfrm>
          <a:prstGeom prst="roundRect">
            <a:avLst>
              <a:gd name="adj" fmla="val 8163"/>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20" name="Text 18"/>
          <p:cNvSpPr/>
          <p:nvPr/>
        </p:nvSpPr>
        <p:spPr>
          <a:xfrm>
            <a:off x="5614416" y="4105656"/>
            <a:ext cx="3081528" cy="274320"/>
          </a:xfrm>
          <a:prstGeom prst="rect">
            <a:avLst/>
          </a:prstGeom>
          <a:noFill/>
          <a:ln/>
        </p:spPr>
        <p:txBody>
          <a:bodyPr wrap="square" lIns="0" tIns="0" rIns="0" bIns="0" rtlCol="0" anchor="ctr"/>
          <a:lstStyle/>
          <a:p>
            <a:pPr marL="0" indent="0">
              <a:buNone/>
            </a:pPr>
            <a:r>
              <a:rPr lang="en-US" sz="1100" b="1" dirty="0">
                <a:solidFill>
                  <a:srgbClr val="1B2B4B"/>
                </a:solidFill>
              </a:rPr>
              <a:t>SSL Condicional</a:t>
            </a:r>
            <a:endParaRPr lang="en-US" sz="1100" dirty="0"/>
          </a:p>
        </p:txBody>
      </p:sp>
      <p:sp>
        <p:nvSpPr>
          <p:cNvPr id="21" name="Text 19"/>
          <p:cNvSpPr/>
          <p:nvPr/>
        </p:nvSpPr>
        <p:spPr>
          <a:xfrm>
            <a:off x="5614416" y="4407408"/>
            <a:ext cx="3081528" cy="438912"/>
          </a:xfrm>
          <a:prstGeom prst="rect">
            <a:avLst/>
          </a:prstGeom>
          <a:noFill/>
          <a:ln/>
        </p:spPr>
        <p:txBody>
          <a:bodyPr wrap="square" lIns="0" tIns="0" rIns="0" bIns="0" rtlCol="0" anchor="ctr"/>
          <a:lstStyle/>
          <a:p>
            <a:pPr marL="0" indent="0">
              <a:buNone/>
            </a:pPr>
            <a:r>
              <a:rPr lang="en-US" sz="950" dirty="0">
                <a:solidFill>
                  <a:srgbClr val="475569"/>
                </a:solidFill>
              </a:rPr>
              <a:t>Docker local no soporta SSL. Se activa solo en producción para no romper el dev local.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4B"/>
          </a:solidFill>
          <a:ln/>
        </p:spPr>
        <p:txBody>
          <a:bodyPr/>
          <a:lstStyle/>
          <a:p>
            <a:endParaRPr lang="en-US"/>
          </a:p>
        </p:txBody>
      </p:sp>
      <p:sp>
        <p:nvSpPr>
          <p:cNvPr id="3" name="Text 1"/>
          <p:cNvSpPr/>
          <p:nvPr/>
        </p:nvSpPr>
        <p:spPr>
          <a:xfrm>
            <a:off x="457200" y="91440"/>
            <a:ext cx="8229600" cy="822960"/>
          </a:xfrm>
          <a:prstGeom prst="rect">
            <a:avLst/>
          </a:prstGeom>
          <a:noFill/>
          <a:ln/>
        </p:spPr>
        <p:txBody>
          <a:bodyPr wrap="square" lIns="0" tIns="0" rIns="0" bIns="0" rtlCol="0" anchor="ctr"/>
          <a:lstStyle/>
          <a:p>
            <a:pPr marL="0" indent="0">
              <a:buNone/>
            </a:pPr>
            <a:r>
              <a:rPr lang="en-US" sz="2600" b="1" dirty="0">
                <a:solidFill>
                  <a:srgbClr val="FFFFFF"/>
                </a:solidFill>
              </a:rPr>
              <a:t>Modificaciones Realizadas</a:t>
            </a:r>
            <a:endParaRPr lang="en-US" sz="2600" dirty="0"/>
          </a:p>
        </p:txBody>
      </p:sp>
      <p:sp>
        <p:nvSpPr>
          <p:cNvPr id="4" name="Shape 2"/>
          <p:cNvSpPr/>
          <p:nvPr/>
        </p:nvSpPr>
        <p:spPr>
          <a:xfrm>
            <a:off x="228600" y="1078992"/>
            <a:ext cx="4224528" cy="1152144"/>
          </a:xfrm>
          <a:prstGeom prst="roundRect">
            <a:avLst>
              <a:gd name="adj" fmla="val 7937"/>
            </a:avLst>
          </a:prstGeom>
          <a:solidFill>
            <a:srgbClr val="EDE9FE"/>
          </a:solidFill>
          <a:ln/>
          <a:effectLst>
            <a:outerShdw blurRad="101600" dist="25400" dir="2700000" algn="bl" rotWithShape="0">
              <a:srgbClr val="1E293B">
                <a:alpha val="10000"/>
              </a:srgbClr>
            </a:outerShdw>
          </a:effectLst>
        </p:spPr>
        <p:txBody>
          <a:bodyPr/>
          <a:lstStyle/>
          <a:p>
            <a:endParaRPr lang="en-US"/>
          </a:p>
        </p:txBody>
      </p:sp>
      <p:sp>
        <p:nvSpPr>
          <p:cNvPr id="5" name="Text 3"/>
          <p:cNvSpPr/>
          <p:nvPr/>
        </p:nvSpPr>
        <p:spPr>
          <a:xfrm>
            <a:off x="374904" y="1170432"/>
            <a:ext cx="3931920" cy="310896"/>
          </a:xfrm>
          <a:prstGeom prst="rect">
            <a:avLst/>
          </a:prstGeom>
          <a:noFill/>
          <a:ln/>
        </p:spPr>
        <p:txBody>
          <a:bodyPr wrap="square" lIns="0" tIns="0" rIns="0" bIns="0" rtlCol="0" anchor="ctr"/>
          <a:lstStyle/>
          <a:p>
            <a:pPr marL="0" indent="0">
              <a:buNone/>
            </a:pPr>
            <a:r>
              <a:rPr lang="en-US" sz="1200" b="1" dirty="0">
                <a:solidFill>
                  <a:srgbClr val="6D28D9"/>
                </a:solidFill>
              </a:rPr>
              <a:t>Infraestructura</a:t>
            </a:r>
            <a:endParaRPr lang="en-US" sz="1200" dirty="0"/>
          </a:p>
        </p:txBody>
      </p:sp>
      <p:sp>
        <p:nvSpPr>
          <p:cNvPr id="6" name="Text 4"/>
          <p:cNvSpPr/>
          <p:nvPr/>
        </p:nvSpPr>
        <p:spPr>
          <a:xfrm>
            <a:off x="374904" y="1499616"/>
            <a:ext cx="3931920" cy="694944"/>
          </a:xfrm>
          <a:prstGeom prst="rect">
            <a:avLst/>
          </a:prstGeom>
          <a:noFill/>
          <a:ln/>
        </p:spPr>
        <p:txBody>
          <a:bodyPr wrap="square" rtlCol="0" anchor="ctr"/>
          <a:lstStyle/>
          <a:p>
            <a:pPr marL="342900" indent="-342900">
              <a:buSzPct val="100000"/>
              <a:buChar char="•"/>
            </a:pPr>
            <a:r>
              <a:rPr lang="en-US" sz="1000" dirty="0">
                <a:solidFill>
                  <a:srgbClr val="1E293B"/>
                </a:solidFill>
              </a:rPr>
              <a:t>docker-compose.yml (Keycloak + PostgreSQL)</a:t>
            </a:r>
            <a:endParaRPr lang="en-US" sz="1000" dirty="0"/>
          </a:p>
          <a:p>
            <a:pPr marL="342900" indent="-342900">
              <a:buSzPct val="100000"/>
              <a:buChar char="•"/>
            </a:pPr>
            <a:r>
              <a:rPr lang="en-US" sz="1000" dirty="0">
                <a:solidFill>
                  <a:srgbClr val="1E293B"/>
                </a:solidFill>
              </a:rPr>
              <a:t>keycloak/realm-export.json (realm completo + 3 clientes)</a:t>
            </a:r>
            <a:endParaRPr lang="en-US" sz="1000" dirty="0"/>
          </a:p>
        </p:txBody>
      </p:sp>
      <p:sp>
        <p:nvSpPr>
          <p:cNvPr id="7" name="Shape 5"/>
          <p:cNvSpPr/>
          <p:nvPr/>
        </p:nvSpPr>
        <p:spPr>
          <a:xfrm>
            <a:off x="228600" y="2359152"/>
            <a:ext cx="4224528" cy="1152144"/>
          </a:xfrm>
          <a:prstGeom prst="roundRect">
            <a:avLst>
              <a:gd name="adj" fmla="val 7937"/>
            </a:avLst>
          </a:prstGeom>
          <a:solidFill>
            <a:srgbClr val="EFF6FF"/>
          </a:solidFill>
          <a:ln/>
          <a:effectLst>
            <a:outerShdw blurRad="101600" dist="25400" dir="2700000" algn="bl" rotWithShape="0">
              <a:srgbClr val="1E293B">
                <a:alpha val="10000"/>
              </a:srgbClr>
            </a:outerShdw>
          </a:effectLst>
        </p:spPr>
        <p:txBody>
          <a:bodyPr/>
          <a:lstStyle/>
          <a:p>
            <a:endParaRPr lang="en-US"/>
          </a:p>
        </p:txBody>
      </p:sp>
      <p:sp>
        <p:nvSpPr>
          <p:cNvPr id="8" name="Text 6"/>
          <p:cNvSpPr/>
          <p:nvPr/>
        </p:nvSpPr>
        <p:spPr>
          <a:xfrm>
            <a:off x="374904" y="2450592"/>
            <a:ext cx="3931920" cy="310896"/>
          </a:xfrm>
          <a:prstGeom prst="rect">
            <a:avLst/>
          </a:prstGeom>
          <a:noFill/>
          <a:ln/>
        </p:spPr>
        <p:txBody>
          <a:bodyPr wrap="square" lIns="0" tIns="0" rIns="0" bIns="0" rtlCol="0" anchor="ctr"/>
          <a:lstStyle/>
          <a:p>
            <a:pPr marL="0" indent="0">
              <a:buNone/>
            </a:pPr>
            <a:r>
              <a:rPr lang="en-US" sz="1200" b="1" dirty="0">
                <a:solidFill>
                  <a:srgbClr val="0891B2"/>
                </a:solidFill>
              </a:rPr>
              <a:t>ProyectoWeb — Frontends</a:t>
            </a:r>
            <a:endParaRPr lang="en-US" sz="1200" dirty="0"/>
          </a:p>
        </p:txBody>
      </p:sp>
      <p:sp>
        <p:nvSpPr>
          <p:cNvPr id="9" name="Text 7"/>
          <p:cNvSpPr/>
          <p:nvPr/>
        </p:nvSpPr>
        <p:spPr>
          <a:xfrm>
            <a:off x="374904" y="2779776"/>
            <a:ext cx="3931920" cy="694944"/>
          </a:xfrm>
          <a:prstGeom prst="rect">
            <a:avLst/>
          </a:prstGeom>
          <a:noFill/>
          <a:ln/>
        </p:spPr>
        <p:txBody>
          <a:bodyPr wrap="square" rtlCol="0" anchor="ctr"/>
          <a:lstStyle/>
          <a:p>
            <a:pPr marL="342900" indent="-342900">
              <a:buSzPct val="100000"/>
              <a:buChar char="•"/>
            </a:pPr>
            <a:r>
              <a:rPr lang="en-US" sz="1000" dirty="0">
                <a:solidFill>
                  <a:srgbClr val="1E293B"/>
                </a:solidFill>
              </a:rPr>
              <a:t>main.ts / main.tsx: checkLoginIframe: false</a:t>
            </a:r>
            <a:endParaRPr lang="en-US" sz="1000" dirty="0"/>
          </a:p>
          <a:p>
            <a:pPr marL="342900" indent="-342900">
              <a:buSzPct val="100000"/>
              <a:buChar char="•"/>
            </a:pPr>
            <a:r>
              <a:rPr lang="en-US" sz="1000" dirty="0">
                <a:solidFill>
                  <a:srgbClr val="1E293B"/>
                </a:solidFill>
              </a:rPr>
              <a:t>veci-herramientas-api/.env: DATABASE_URL Postgres local</a:t>
            </a:r>
            <a:endParaRPr lang="en-US" sz="1000" dirty="0"/>
          </a:p>
        </p:txBody>
      </p:sp>
      <p:sp>
        <p:nvSpPr>
          <p:cNvPr id="10" name="Shape 8"/>
          <p:cNvSpPr/>
          <p:nvPr/>
        </p:nvSpPr>
        <p:spPr>
          <a:xfrm>
            <a:off x="228600" y="3639312"/>
            <a:ext cx="4224528" cy="1152144"/>
          </a:xfrm>
          <a:prstGeom prst="roundRect">
            <a:avLst>
              <a:gd name="adj" fmla="val 7937"/>
            </a:avLst>
          </a:prstGeom>
          <a:solidFill>
            <a:srgbClr val="F0FDF4"/>
          </a:solidFill>
          <a:ln/>
          <a:effectLst>
            <a:outerShdw blurRad="101600" dist="25400" dir="2700000" algn="bl" rotWithShape="0">
              <a:srgbClr val="1E293B">
                <a:alpha val="10000"/>
              </a:srgbClr>
            </a:outerShdw>
          </a:effectLst>
        </p:spPr>
        <p:txBody>
          <a:bodyPr/>
          <a:lstStyle/>
          <a:p>
            <a:endParaRPr lang="en-US"/>
          </a:p>
        </p:txBody>
      </p:sp>
      <p:sp>
        <p:nvSpPr>
          <p:cNvPr id="11" name="Text 9"/>
          <p:cNvSpPr/>
          <p:nvPr/>
        </p:nvSpPr>
        <p:spPr>
          <a:xfrm>
            <a:off x="374904" y="3730752"/>
            <a:ext cx="3931920" cy="310896"/>
          </a:xfrm>
          <a:prstGeom prst="rect">
            <a:avLst/>
          </a:prstGeom>
          <a:noFill/>
          <a:ln/>
        </p:spPr>
        <p:txBody>
          <a:bodyPr wrap="square" lIns="0" tIns="0" rIns="0" bIns="0" rtlCol="0" anchor="ctr"/>
          <a:lstStyle/>
          <a:p>
            <a:pPr marL="0" indent="0">
              <a:buNone/>
            </a:pPr>
            <a:r>
              <a:rPr lang="en-US" sz="1200" b="1" dirty="0">
                <a:solidFill>
                  <a:srgbClr val="16A34A"/>
                </a:solidFill>
              </a:rPr>
              <a:t>ProyectoWeb — NestJS</a:t>
            </a:r>
            <a:endParaRPr lang="en-US" sz="1200" dirty="0"/>
          </a:p>
        </p:txBody>
      </p:sp>
      <p:sp>
        <p:nvSpPr>
          <p:cNvPr id="12" name="Text 10"/>
          <p:cNvSpPr/>
          <p:nvPr/>
        </p:nvSpPr>
        <p:spPr>
          <a:xfrm>
            <a:off x="374904" y="4059936"/>
            <a:ext cx="3931920" cy="694944"/>
          </a:xfrm>
          <a:prstGeom prst="rect">
            <a:avLst/>
          </a:prstGeom>
          <a:noFill/>
          <a:ln/>
        </p:spPr>
        <p:txBody>
          <a:bodyPr wrap="square" rtlCol="0" anchor="ctr"/>
          <a:lstStyle/>
          <a:p>
            <a:pPr marL="342900" indent="-342900">
              <a:buSzPct val="100000"/>
              <a:buChar char="•"/>
            </a:pPr>
            <a:r>
              <a:rPr lang="en-US" sz="1000" dirty="0">
                <a:solidFill>
                  <a:srgbClr val="1E293B"/>
                </a:solidFill>
              </a:rPr>
              <a:t>app.module.ts: SSL condicional para Postgres local</a:t>
            </a:r>
            <a:endParaRPr lang="en-US" sz="1000" dirty="0"/>
          </a:p>
          <a:p>
            <a:pPr marL="342900" indent="-342900">
              <a:buSzPct val="100000"/>
              <a:buChar char="•"/>
            </a:pPr>
            <a:r>
              <a:rPr lang="en-US" sz="1000" dirty="0">
                <a:solidFill>
                  <a:srgbClr val="1E293B"/>
                </a:solidFill>
              </a:rPr>
              <a:t>jwt-guard.ts: validación JWKS (RS256) de Keycloak</a:t>
            </a:r>
            <a:endParaRPr lang="en-US" sz="1000" dirty="0"/>
          </a:p>
        </p:txBody>
      </p:sp>
      <p:sp>
        <p:nvSpPr>
          <p:cNvPr id="13" name="Shape 11"/>
          <p:cNvSpPr/>
          <p:nvPr/>
        </p:nvSpPr>
        <p:spPr>
          <a:xfrm>
            <a:off x="4681728" y="1078992"/>
            <a:ext cx="4224528" cy="2084832"/>
          </a:xfrm>
          <a:prstGeom prst="roundRect">
            <a:avLst>
              <a:gd name="adj" fmla="val 4386"/>
            </a:avLst>
          </a:prstGeom>
          <a:solidFill>
            <a:srgbClr val="FFF7ED"/>
          </a:solidFill>
          <a:ln/>
          <a:effectLst>
            <a:outerShdw blurRad="101600" dist="25400" dir="2700000" algn="bl" rotWithShape="0">
              <a:srgbClr val="1E293B">
                <a:alpha val="10000"/>
              </a:srgbClr>
            </a:outerShdw>
          </a:effectLst>
        </p:spPr>
        <p:txBody>
          <a:bodyPr/>
          <a:lstStyle/>
          <a:p>
            <a:endParaRPr lang="en-US"/>
          </a:p>
        </p:txBody>
      </p:sp>
      <p:sp>
        <p:nvSpPr>
          <p:cNvPr id="14" name="Text 12"/>
          <p:cNvSpPr/>
          <p:nvPr/>
        </p:nvSpPr>
        <p:spPr>
          <a:xfrm>
            <a:off x="4828032" y="1170432"/>
            <a:ext cx="3931920" cy="310896"/>
          </a:xfrm>
          <a:prstGeom prst="rect">
            <a:avLst/>
          </a:prstGeom>
          <a:noFill/>
          <a:ln/>
        </p:spPr>
        <p:txBody>
          <a:bodyPr wrap="square" lIns="0" tIns="0" rIns="0" bIns="0" rtlCol="0" anchor="ctr"/>
          <a:lstStyle/>
          <a:p>
            <a:pPr marL="0" indent="0">
              <a:buNone/>
            </a:pPr>
            <a:r>
              <a:rPr lang="en-US" sz="1200" b="1" dirty="0">
                <a:solidFill>
                  <a:srgbClr val="D97706"/>
                </a:solidFill>
              </a:rPr>
              <a:t>RefugioHuellas — React</a:t>
            </a:r>
            <a:endParaRPr lang="en-US" sz="1200" dirty="0"/>
          </a:p>
        </p:txBody>
      </p:sp>
      <p:sp>
        <p:nvSpPr>
          <p:cNvPr id="15" name="Text 13"/>
          <p:cNvSpPr/>
          <p:nvPr/>
        </p:nvSpPr>
        <p:spPr>
          <a:xfrm>
            <a:off x="4828032" y="1499616"/>
            <a:ext cx="3931920" cy="1627632"/>
          </a:xfrm>
          <a:prstGeom prst="rect">
            <a:avLst/>
          </a:prstGeom>
          <a:noFill/>
          <a:ln/>
        </p:spPr>
        <p:txBody>
          <a:bodyPr wrap="square" rtlCol="0" anchor="ctr"/>
          <a:lstStyle/>
          <a:p>
            <a:pPr marL="342900" indent="-342900">
              <a:buSzPct val="100000"/>
              <a:buChar char="•"/>
            </a:pPr>
            <a:r>
              <a:rPr lang="en-US" sz="1000" dirty="0">
                <a:solidFill>
                  <a:srgbClr val="1E293B"/>
                </a:solidFill>
              </a:rPr>
              <a:t>main.jsx: checkLoginIframe: false</a:t>
            </a:r>
            <a:endParaRPr lang="en-US" sz="1000" dirty="0"/>
          </a:p>
          <a:p>
            <a:pPr marL="342900" indent="-342900">
              <a:buSzPct val="100000"/>
              <a:buChar char="•"/>
            </a:pPr>
            <a:r>
              <a:rPr lang="en-US" sz="1000" dirty="0">
                <a:solidFill>
                  <a:srgbClr val="1E293B"/>
                </a:solidFill>
              </a:rPr>
              <a:t>AuthContext.jsx: redirectUri con BASE_URL</a:t>
            </a:r>
            <a:endParaRPr lang="en-US" sz="1000" dirty="0"/>
          </a:p>
          <a:p>
            <a:pPr marL="342900" indent="-342900">
              <a:buSzPct val="100000"/>
              <a:buChar char="•"/>
            </a:pPr>
            <a:r>
              <a:rPr lang="en-US" sz="1000" dirty="0">
                <a:solidFill>
                  <a:srgbClr val="1E293B"/>
                </a:solidFill>
              </a:rPr>
              <a:t>vite.config.js: middleware /app → /app/</a:t>
            </a:r>
            <a:endParaRPr lang="en-US" sz="1000" dirty="0"/>
          </a:p>
          <a:p>
            <a:pPr marL="342900" indent="-342900">
              <a:buSzPct val="100000"/>
              <a:buChar char="•"/>
            </a:pPr>
            <a:r>
              <a:rPr lang="en-US" sz="1000" dirty="0">
                <a:solidFill>
                  <a:srgbClr val="1E293B"/>
                </a:solidFill>
              </a:rPr>
              <a:t>api/client.js: resolvePhotoUrl() para imágenes</a:t>
            </a:r>
            <a:endParaRPr lang="en-US" sz="1000" dirty="0"/>
          </a:p>
          <a:p>
            <a:pPr marL="342900" indent="-342900">
              <a:buSzPct val="100000"/>
              <a:buChar char="•"/>
            </a:pPr>
            <a:r>
              <a:rPr lang="en-US" sz="1000" dirty="0">
                <a:solidFill>
                  <a:srgbClr val="1E293B"/>
                </a:solidFill>
              </a:rPr>
              <a:t>Dogs, DogCard, DogDetail, MyBestMatches, AdminDogs</a:t>
            </a:r>
            <a:endParaRPr lang="en-US" sz="1000" dirty="0"/>
          </a:p>
        </p:txBody>
      </p:sp>
      <p:sp>
        <p:nvSpPr>
          <p:cNvPr id="16" name="Shape 14"/>
          <p:cNvSpPr/>
          <p:nvPr/>
        </p:nvSpPr>
        <p:spPr>
          <a:xfrm>
            <a:off x="4681728" y="3291840"/>
            <a:ext cx="4224528" cy="1463040"/>
          </a:xfrm>
          <a:prstGeom prst="roundRect">
            <a:avLst>
              <a:gd name="adj" fmla="val 6250"/>
            </a:avLst>
          </a:prstGeom>
          <a:solidFill>
            <a:srgbClr val="FEF2F2"/>
          </a:solidFill>
          <a:ln/>
          <a:effectLst>
            <a:outerShdw blurRad="101600" dist="25400" dir="2700000" algn="bl" rotWithShape="0">
              <a:srgbClr val="1E293B">
                <a:alpha val="10000"/>
              </a:srgbClr>
            </a:outerShdw>
          </a:effectLst>
        </p:spPr>
        <p:txBody>
          <a:bodyPr/>
          <a:lstStyle/>
          <a:p>
            <a:endParaRPr lang="en-US"/>
          </a:p>
        </p:txBody>
      </p:sp>
      <p:sp>
        <p:nvSpPr>
          <p:cNvPr id="17" name="Text 15"/>
          <p:cNvSpPr/>
          <p:nvPr/>
        </p:nvSpPr>
        <p:spPr>
          <a:xfrm>
            <a:off x="4828032" y="3383280"/>
            <a:ext cx="3931920" cy="310896"/>
          </a:xfrm>
          <a:prstGeom prst="rect">
            <a:avLst/>
          </a:prstGeom>
          <a:noFill/>
          <a:ln/>
        </p:spPr>
        <p:txBody>
          <a:bodyPr wrap="square" lIns="0" tIns="0" rIns="0" bIns="0" rtlCol="0" anchor="ctr"/>
          <a:lstStyle/>
          <a:p>
            <a:pPr marL="0" indent="0">
              <a:buNone/>
            </a:pPr>
            <a:r>
              <a:rPr lang="en-US" sz="1200" b="1" dirty="0">
                <a:solidFill>
                  <a:srgbClr val="DC2626"/>
                </a:solidFill>
              </a:rPr>
              <a:t>RefugioHuellas — ASP.NET</a:t>
            </a:r>
            <a:endParaRPr lang="en-US" sz="1200" dirty="0"/>
          </a:p>
        </p:txBody>
      </p:sp>
      <p:sp>
        <p:nvSpPr>
          <p:cNvPr id="18" name="Text 16"/>
          <p:cNvSpPr/>
          <p:nvPr/>
        </p:nvSpPr>
        <p:spPr>
          <a:xfrm>
            <a:off x="4828032" y="3712464"/>
            <a:ext cx="3931920" cy="1005840"/>
          </a:xfrm>
          <a:prstGeom prst="rect">
            <a:avLst/>
          </a:prstGeom>
          <a:noFill/>
          <a:ln/>
        </p:spPr>
        <p:txBody>
          <a:bodyPr wrap="square" rtlCol="0" anchor="ctr"/>
          <a:lstStyle/>
          <a:p>
            <a:pPr marL="342900" indent="-342900">
              <a:buSzPct val="100000"/>
              <a:buChar char="•"/>
            </a:pPr>
            <a:r>
              <a:rPr lang="en-US" sz="1000" dirty="0">
                <a:solidFill>
                  <a:srgbClr val="1E293B"/>
                </a:solidFill>
              </a:rPr>
              <a:t>AuthApiController.cs: removido SignInManager</a:t>
            </a:r>
            <a:endParaRPr lang="en-US" sz="1000" dirty="0"/>
          </a:p>
          <a:p>
            <a:pPr marL="342900" indent="-342900">
              <a:buSzPct val="100000"/>
              <a:buChar char="•"/>
            </a:pPr>
            <a:r>
              <a:rPr lang="en-US" sz="1000" dirty="0">
                <a:solidFill>
                  <a:srgbClr val="1E293B"/>
                </a:solidFill>
              </a:rPr>
              <a:t>Usa CheckPasswordAsync en su lugar</a:t>
            </a:r>
            <a:endParaRPr lang="en-US" sz="1000" dirty="0"/>
          </a:p>
          <a:p>
            <a:pPr marL="342900" indent="-342900">
              <a:buSzPct val="100000"/>
              <a:buChar char="•"/>
            </a:pPr>
            <a:r>
              <a:rPr lang="en-US" sz="1000" dirty="0">
                <a:solidFill>
                  <a:srgbClr val="1E293B"/>
                </a:solidFill>
              </a:rPr>
              <a:t>Program.cs: AddIdentityCore (sin SignInManager)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B4B"/>
        </a:solidFill>
        <a:effectLst/>
      </p:bgPr>
    </p:bg>
    <p:spTree>
      <p:nvGrpSpPr>
        <p:cNvPr id="1" name=""/>
        <p:cNvGrpSpPr/>
        <p:nvPr/>
      </p:nvGrpSpPr>
      <p:grpSpPr>
        <a:xfrm>
          <a:off x="0" y="0"/>
          <a:ext cx="0" cy="0"/>
          <a:chOff x="0" y="0"/>
          <a:chExt cx="0" cy="0"/>
        </a:xfrm>
      </p:grpSpPr>
      <p:sp>
        <p:nvSpPr>
          <p:cNvPr id="2" name="Shape 0"/>
          <p:cNvSpPr/>
          <p:nvPr/>
        </p:nvSpPr>
        <p:spPr>
          <a:xfrm>
            <a:off x="-731520" y="2926080"/>
            <a:ext cx="3657600" cy="3657600"/>
          </a:xfrm>
          <a:prstGeom prst="ellipse">
            <a:avLst/>
          </a:prstGeom>
          <a:solidFill>
            <a:srgbClr val="0891B2">
              <a:alpha val="14000"/>
            </a:srgbClr>
          </a:solidFill>
          <a:ln w="12700">
            <a:solidFill>
              <a:srgbClr val="0891B2">
                <a:alpha val="14000"/>
              </a:srgbClr>
            </a:solidFill>
            <a:prstDash val="solid"/>
          </a:ln>
        </p:spPr>
        <p:txBody>
          <a:bodyPr/>
          <a:lstStyle/>
          <a:p>
            <a:endParaRPr lang="en-US"/>
          </a:p>
        </p:txBody>
      </p:sp>
      <p:sp>
        <p:nvSpPr>
          <p:cNvPr id="3" name="Shape 1"/>
          <p:cNvSpPr/>
          <p:nvPr/>
        </p:nvSpPr>
        <p:spPr>
          <a:xfrm>
            <a:off x="7132320" y="-731520"/>
            <a:ext cx="3657600" cy="3657600"/>
          </a:xfrm>
          <a:prstGeom prst="ellipse">
            <a:avLst/>
          </a:prstGeom>
          <a:solidFill>
            <a:srgbClr val="0E7490">
              <a:alpha val="12000"/>
            </a:srgbClr>
          </a:solidFill>
          <a:ln w="12700">
            <a:solidFill>
              <a:srgbClr val="0E7490">
                <a:alpha val="12000"/>
              </a:srgbClr>
            </a:solidFill>
            <a:prstDash val="solid"/>
          </a:ln>
        </p:spPr>
        <p:txBody>
          <a:bodyPr/>
          <a:lstStyle/>
          <a:p>
            <a:endParaRPr lang="en-US"/>
          </a:p>
        </p:txBody>
      </p:sp>
      <p:sp>
        <p:nvSpPr>
          <p:cNvPr id="4" name="Text 2"/>
          <p:cNvSpPr/>
          <p:nvPr/>
        </p:nvSpPr>
        <p:spPr>
          <a:xfrm>
            <a:off x="457200" y="201168"/>
            <a:ext cx="8229600" cy="594360"/>
          </a:xfrm>
          <a:prstGeom prst="rect">
            <a:avLst/>
          </a:prstGeom>
          <a:noFill/>
          <a:ln/>
        </p:spPr>
        <p:txBody>
          <a:bodyPr wrap="square" lIns="0" tIns="0" rIns="0" bIns="0" rtlCol="0" anchor="ctr"/>
          <a:lstStyle/>
          <a:p>
            <a:pPr marL="0" indent="0" algn="ctr">
              <a:buNone/>
            </a:pPr>
            <a:r>
              <a:rPr lang="en-US" sz="3400" b="1" dirty="0">
                <a:solidFill>
                  <a:srgbClr val="FFFFFF"/>
                </a:solidFill>
              </a:rPr>
              <a:t>Resultados</a:t>
            </a:r>
            <a:endParaRPr lang="en-US" sz="3400" dirty="0"/>
          </a:p>
        </p:txBody>
      </p:sp>
      <p:sp>
        <p:nvSpPr>
          <p:cNvPr id="5" name="Shape 3"/>
          <p:cNvSpPr/>
          <p:nvPr/>
        </p:nvSpPr>
        <p:spPr>
          <a:xfrm>
            <a:off x="457200" y="960120"/>
            <a:ext cx="8229600" cy="512064"/>
          </a:xfrm>
          <a:prstGeom prst="roundRect">
            <a:avLst>
              <a:gd name="adj" fmla="val 14286"/>
            </a:avLst>
          </a:prstGeom>
          <a:solidFill>
            <a:srgbClr val="FFFFFF">
              <a:alpha val="10000"/>
            </a:srgbClr>
          </a:solidFill>
          <a:ln/>
        </p:spPr>
        <p:txBody>
          <a:bodyPr/>
          <a:lstStyle/>
          <a:p>
            <a:endParaRPr lang="en-US"/>
          </a:p>
        </p:txBody>
      </p:sp>
      <p:sp>
        <p:nvSpPr>
          <p:cNvPr id="6" name="Text 4"/>
          <p:cNvSpPr/>
          <p:nvPr/>
        </p:nvSpPr>
        <p:spPr>
          <a:xfrm>
            <a:off x="658368" y="987552"/>
            <a:ext cx="7827264" cy="457200"/>
          </a:xfrm>
          <a:prstGeom prst="rect">
            <a:avLst/>
          </a:prstGeom>
          <a:noFill/>
          <a:ln/>
        </p:spPr>
        <p:txBody>
          <a:bodyPr wrap="square" lIns="0" tIns="0" rIns="0" bIns="0" rtlCol="0" anchor="ctr"/>
          <a:lstStyle/>
          <a:p>
            <a:pPr marL="0" indent="0">
              <a:buNone/>
            </a:pPr>
            <a:r>
              <a:rPr lang="en-US" sz="1200" dirty="0">
                <a:solidFill>
                  <a:srgbClr val="FFFFFF"/>
                </a:solidFill>
              </a:rPr>
              <a:t>SSO funcionando: login en App A auto-autentica en App B sin intervención del usuario</a:t>
            </a:r>
            <a:endParaRPr lang="en-US" sz="1200" dirty="0"/>
          </a:p>
        </p:txBody>
      </p:sp>
      <p:sp>
        <p:nvSpPr>
          <p:cNvPr id="7" name="Shape 5"/>
          <p:cNvSpPr/>
          <p:nvPr/>
        </p:nvSpPr>
        <p:spPr>
          <a:xfrm>
            <a:off x="457200" y="1554480"/>
            <a:ext cx="8229600" cy="512064"/>
          </a:xfrm>
          <a:prstGeom prst="roundRect">
            <a:avLst>
              <a:gd name="adj" fmla="val 14286"/>
            </a:avLst>
          </a:prstGeom>
          <a:solidFill>
            <a:srgbClr val="FFFFFF">
              <a:alpha val="10000"/>
            </a:srgbClr>
          </a:solidFill>
          <a:ln/>
        </p:spPr>
        <p:txBody>
          <a:bodyPr/>
          <a:lstStyle/>
          <a:p>
            <a:endParaRPr lang="en-US"/>
          </a:p>
        </p:txBody>
      </p:sp>
      <p:sp>
        <p:nvSpPr>
          <p:cNvPr id="8" name="Text 6"/>
          <p:cNvSpPr/>
          <p:nvPr/>
        </p:nvSpPr>
        <p:spPr>
          <a:xfrm>
            <a:off x="658368" y="1581912"/>
            <a:ext cx="7827264" cy="457200"/>
          </a:xfrm>
          <a:prstGeom prst="rect">
            <a:avLst/>
          </a:prstGeom>
          <a:noFill/>
          <a:ln/>
        </p:spPr>
        <p:txBody>
          <a:bodyPr wrap="square" lIns="0" tIns="0" rIns="0" bIns="0" rtlCol="0" anchor="ctr"/>
          <a:lstStyle/>
          <a:p>
            <a:pPr marL="0" indent="0">
              <a:buNone/>
            </a:pPr>
            <a:r>
              <a:rPr lang="en-US" sz="1200" dirty="0">
                <a:solidFill>
                  <a:srgbClr val="FFFFFF"/>
                </a:solidFill>
              </a:rPr>
              <a:t>Keycloak centraliza identidad: realm único, 3 clientes OIDC, 2 usuarios de prueba incluidos</a:t>
            </a:r>
            <a:endParaRPr lang="en-US" sz="1200" dirty="0"/>
          </a:p>
        </p:txBody>
      </p:sp>
      <p:sp>
        <p:nvSpPr>
          <p:cNvPr id="9" name="Shape 7"/>
          <p:cNvSpPr/>
          <p:nvPr/>
        </p:nvSpPr>
        <p:spPr>
          <a:xfrm>
            <a:off x="457200" y="2148840"/>
            <a:ext cx="8229600" cy="512064"/>
          </a:xfrm>
          <a:prstGeom prst="roundRect">
            <a:avLst>
              <a:gd name="adj" fmla="val 14286"/>
            </a:avLst>
          </a:prstGeom>
          <a:solidFill>
            <a:srgbClr val="FFFFFF">
              <a:alpha val="10000"/>
            </a:srgbClr>
          </a:solidFill>
          <a:ln/>
        </p:spPr>
        <p:txBody>
          <a:bodyPr/>
          <a:lstStyle/>
          <a:p>
            <a:endParaRPr lang="en-US"/>
          </a:p>
        </p:txBody>
      </p:sp>
      <p:sp>
        <p:nvSpPr>
          <p:cNvPr id="10" name="Text 8"/>
          <p:cNvSpPr/>
          <p:nvPr/>
        </p:nvSpPr>
        <p:spPr>
          <a:xfrm>
            <a:off x="658368" y="2176272"/>
            <a:ext cx="7827264" cy="457200"/>
          </a:xfrm>
          <a:prstGeom prst="rect">
            <a:avLst/>
          </a:prstGeom>
          <a:noFill/>
          <a:ln/>
        </p:spPr>
        <p:txBody>
          <a:bodyPr wrap="square" lIns="0" tIns="0" rIns="0" bIns="0" rtlCol="0" anchor="ctr"/>
          <a:lstStyle/>
          <a:p>
            <a:pPr marL="0" indent="0">
              <a:buNone/>
            </a:pPr>
            <a:r>
              <a:rPr lang="en-US" sz="1200" dirty="0">
                <a:solidFill>
                  <a:srgbClr val="FFFFFF"/>
                </a:solidFill>
              </a:rPr>
              <a:t>Frontends usan check-sso silencioso para detectar sesión existente al cargar</a:t>
            </a:r>
            <a:endParaRPr lang="en-US" sz="1200" dirty="0"/>
          </a:p>
        </p:txBody>
      </p:sp>
      <p:sp>
        <p:nvSpPr>
          <p:cNvPr id="11" name="Shape 9"/>
          <p:cNvSpPr/>
          <p:nvPr/>
        </p:nvSpPr>
        <p:spPr>
          <a:xfrm>
            <a:off x="457200" y="2743200"/>
            <a:ext cx="8229600" cy="512064"/>
          </a:xfrm>
          <a:prstGeom prst="roundRect">
            <a:avLst>
              <a:gd name="adj" fmla="val 14286"/>
            </a:avLst>
          </a:prstGeom>
          <a:solidFill>
            <a:srgbClr val="FFFFFF">
              <a:alpha val="10000"/>
            </a:srgbClr>
          </a:solidFill>
          <a:ln/>
        </p:spPr>
        <p:txBody>
          <a:bodyPr/>
          <a:lstStyle/>
          <a:p>
            <a:endParaRPr lang="en-US"/>
          </a:p>
        </p:txBody>
      </p:sp>
      <p:sp>
        <p:nvSpPr>
          <p:cNvPr id="12" name="Text 10"/>
          <p:cNvSpPr/>
          <p:nvPr/>
        </p:nvSpPr>
        <p:spPr>
          <a:xfrm>
            <a:off x="658368" y="2770632"/>
            <a:ext cx="7827264" cy="457200"/>
          </a:xfrm>
          <a:prstGeom prst="rect">
            <a:avLst/>
          </a:prstGeom>
          <a:noFill/>
          <a:ln/>
        </p:spPr>
        <p:txBody>
          <a:bodyPr wrap="square" lIns="0" tIns="0" rIns="0" bIns="0" rtlCol="0" anchor="ctr"/>
          <a:lstStyle/>
          <a:p>
            <a:pPr marL="0" indent="0">
              <a:buNone/>
            </a:pPr>
            <a:r>
              <a:rPr lang="en-US" sz="1200" dirty="0">
                <a:solidFill>
                  <a:srgbClr val="FFFFFF"/>
                </a:solidFill>
              </a:rPr>
              <a:t>Backends validan tokens RS256 via JWKS — sin compartir secretos entre apps</a:t>
            </a:r>
            <a:endParaRPr lang="en-US" sz="1200" dirty="0"/>
          </a:p>
        </p:txBody>
      </p:sp>
      <p:sp>
        <p:nvSpPr>
          <p:cNvPr id="13" name="Shape 11"/>
          <p:cNvSpPr/>
          <p:nvPr/>
        </p:nvSpPr>
        <p:spPr>
          <a:xfrm>
            <a:off x="457200" y="3337560"/>
            <a:ext cx="8229600" cy="512064"/>
          </a:xfrm>
          <a:prstGeom prst="roundRect">
            <a:avLst>
              <a:gd name="adj" fmla="val 14286"/>
            </a:avLst>
          </a:prstGeom>
          <a:solidFill>
            <a:srgbClr val="FFFFFF">
              <a:alpha val="10000"/>
            </a:srgbClr>
          </a:solidFill>
          <a:ln/>
        </p:spPr>
        <p:txBody>
          <a:bodyPr/>
          <a:lstStyle/>
          <a:p>
            <a:endParaRPr lang="en-US"/>
          </a:p>
        </p:txBody>
      </p:sp>
      <p:sp>
        <p:nvSpPr>
          <p:cNvPr id="14" name="Text 12"/>
          <p:cNvSpPr/>
          <p:nvPr/>
        </p:nvSpPr>
        <p:spPr>
          <a:xfrm>
            <a:off x="658368" y="3364992"/>
            <a:ext cx="7827264" cy="457200"/>
          </a:xfrm>
          <a:prstGeom prst="rect">
            <a:avLst/>
          </a:prstGeom>
          <a:noFill/>
          <a:ln/>
        </p:spPr>
        <p:txBody>
          <a:bodyPr wrap="square" lIns="0" tIns="0" rIns="0" bIns="0" rtlCol="0" anchor="ctr"/>
          <a:lstStyle/>
          <a:p>
            <a:pPr marL="0" indent="0">
              <a:buNone/>
            </a:pPr>
            <a:r>
              <a:rPr lang="en-US" sz="1200" dirty="0">
                <a:solidFill>
                  <a:srgbClr val="FFFFFF"/>
                </a:solidFill>
              </a:rPr>
              <a:t>Todo el entorno corre con un solo:  docker compose up -d</a:t>
            </a:r>
            <a:endParaRPr lang="en-US" sz="1200" dirty="0"/>
          </a:p>
        </p:txBody>
      </p:sp>
      <p:sp>
        <p:nvSpPr>
          <p:cNvPr id="15" name="Shape 13"/>
          <p:cNvSpPr/>
          <p:nvPr/>
        </p:nvSpPr>
        <p:spPr>
          <a:xfrm>
            <a:off x="457200" y="3931920"/>
            <a:ext cx="8229600" cy="512064"/>
          </a:xfrm>
          <a:prstGeom prst="roundRect">
            <a:avLst>
              <a:gd name="adj" fmla="val 14286"/>
            </a:avLst>
          </a:prstGeom>
          <a:solidFill>
            <a:srgbClr val="FFFFFF">
              <a:alpha val="10000"/>
            </a:srgbClr>
          </a:solidFill>
          <a:ln/>
        </p:spPr>
        <p:txBody>
          <a:bodyPr/>
          <a:lstStyle/>
          <a:p>
            <a:endParaRPr lang="en-US"/>
          </a:p>
        </p:txBody>
      </p:sp>
      <p:sp>
        <p:nvSpPr>
          <p:cNvPr id="16" name="Text 14"/>
          <p:cNvSpPr/>
          <p:nvPr/>
        </p:nvSpPr>
        <p:spPr>
          <a:xfrm>
            <a:off x="658368" y="3959352"/>
            <a:ext cx="7827264" cy="457200"/>
          </a:xfrm>
          <a:prstGeom prst="rect">
            <a:avLst/>
          </a:prstGeom>
          <a:noFill/>
          <a:ln/>
        </p:spPr>
        <p:txBody>
          <a:bodyPr wrap="square" lIns="0" tIns="0" rIns="0" bIns="0" rtlCol="0" anchor="ctr"/>
          <a:lstStyle/>
          <a:p>
            <a:pPr marL="0" indent="0">
              <a:buNone/>
            </a:pPr>
            <a:r>
              <a:rPr lang="en-US" sz="1200" dirty="0">
                <a:solidFill>
                  <a:srgbClr val="FFFFFF"/>
                </a:solidFill>
              </a:rPr>
              <a:t>Acceso al admin Keycloak: localhost:8080/admin  →  admin / admin</a:t>
            </a:r>
            <a:endParaRPr lang="en-US" sz="1200" dirty="0"/>
          </a:p>
        </p:txBody>
      </p:sp>
      <p:sp>
        <p:nvSpPr>
          <p:cNvPr id="17" name="Text 15"/>
          <p:cNvSpPr/>
          <p:nvPr/>
        </p:nvSpPr>
        <p:spPr>
          <a:xfrm>
            <a:off x="457200" y="4626864"/>
            <a:ext cx="8229600" cy="292608"/>
          </a:xfrm>
          <a:prstGeom prst="rect">
            <a:avLst/>
          </a:prstGeom>
          <a:noFill/>
          <a:ln/>
        </p:spPr>
        <p:txBody>
          <a:bodyPr wrap="square" lIns="0" tIns="0" rIns="0" bIns="0" rtlCol="0" anchor="ctr"/>
          <a:lstStyle/>
          <a:p>
            <a:pPr marL="0" indent="0" algn="ctr">
              <a:buNone/>
            </a:pPr>
            <a:r>
              <a:rPr lang="en-US" sz="1300" dirty="0">
                <a:solidFill>
                  <a:srgbClr val="BAE6FD"/>
                </a:solidFill>
              </a:rPr>
              <a:t>¿Preguntas?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1622</Words>
  <Application>Microsoft Office PowerPoint</Application>
  <PresentationFormat>On-screen Show (16:9)</PresentationFormat>
  <Paragraphs>222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SSO con Keycloak - RefugioHuellas y ProyectoWeb</dc:title>
  <dc:subject>PptxGenJS Presentation</dc:subject>
  <dc:creator>PptxGenJS</dc:creator>
  <cp:lastModifiedBy>(Estudiante) Julian David Torres Avila</cp:lastModifiedBy>
  <cp:revision>2</cp:revision>
  <dcterms:created xsi:type="dcterms:W3CDTF">2026-06-22T21:10:18Z</dcterms:created>
  <dcterms:modified xsi:type="dcterms:W3CDTF">2026-06-22T21:15:47Z</dcterms:modified>
</cp:coreProperties>
</file>